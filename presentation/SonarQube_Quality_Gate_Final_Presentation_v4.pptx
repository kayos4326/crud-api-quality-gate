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d875283866476b" /><Relationship Type="http://schemas.openxmlformats.org/officeDocument/2006/relationships/extended-properties" Target="/docProps/app.xml" Id="R6ff3b5836d8246e9" /><Relationship Type="http://schemas.openxmlformats.org/officeDocument/2006/relationships/officeDocument" Target="/ppt/presentation.xml" Id="R5cbbe41e6d3c4961" /></Relationships>
</file>

<file path=ppt/presentation.xml><?xml version="1.0" encoding="utf-8"?>
<p:presentation xmlns:p="http://schemas.openxmlformats.org/presentationml/2006/main">
  <p:sldMasterIdLst>
    <p:sldMasterId xmlns:r="http://schemas.openxmlformats.org/officeDocument/2006/relationships" id="2147483648" r:id="R61c9aa4e08ae4565"/>
  </p:sldMasterIdLst>
  <p:notesMasterIdLst>
    <p:notesMasterId xmlns:r="http://schemas.openxmlformats.org/officeDocument/2006/relationships" r:id="Rc8b65c1abc194da5"/>
  </p:notesMasterIdLst>
  <p:sldIdLst>
    <p:sldId xmlns:r="http://schemas.openxmlformats.org/officeDocument/2006/relationships" id="256" r:id="R2551d3e9dde749f2"/>
    <p:sldId xmlns:r="http://schemas.openxmlformats.org/officeDocument/2006/relationships" id="257" r:id="R49894ab06c4d4e99"/>
    <p:sldId xmlns:r="http://schemas.openxmlformats.org/officeDocument/2006/relationships" id="258" r:id="Rffeba9402c8448de"/>
    <p:sldId xmlns:r="http://schemas.openxmlformats.org/officeDocument/2006/relationships" id="259" r:id="R58876bc7080f4f33"/>
    <p:sldId xmlns:r="http://schemas.openxmlformats.org/officeDocument/2006/relationships" id="260" r:id="R64cc93522fcd4484"/>
    <p:sldId xmlns:r="http://schemas.openxmlformats.org/officeDocument/2006/relationships" id="261" r:id="Raf555d3b24404124"/>
    <p:sldId xmlns:r="http://schemas.openxmlformats.org/officeDocument/2006/relationships" id="262" r:id="R3e07d7a78a874f78"/>
    <p:sldId xmlns:r="http://schemas.openxmlformats.org/officeDocument/2006/relationships" id="263" r:id="R2418d93329eb4bf6"/>
    <p:sldId xmlns:r="http://schemas.openxmlformats.org/officeDocument/2006/relationships" id="264" r:id="Rcb3156b51d6048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1d8fd1faf84174" /><Relationship Type="http://schemas.openxmlformats.org/officeDocument/2006/relationships/slideMaster" Target="/ppt/slideMasters/slideMaster1.xml" Id="R61c9aa4e08ae4565" /><Relationship Type="http://schemas.openxmlformats.org/officeDocument/2006/relationships/notesMaster" Target="/ppt/notesMasters/notesMaster1.xml" Id="Rc8b65c1abc194da5" /><Relationship Type="http://schemas.openxmlformats.org/officeDocument/2006/relationships/presProps" Target="/ppt/presProps.xml" Id="Ree798a0cec324b83" /><Relationship Type="http://schemas.openxmlformats.org/officeDocument/2006/relationships/tableStyles" Target="/ppt/tableStyles.xml" Id="R96191cc40bbb4ba1" /><Relationship Type="http://schemas.openxmlformats.org/officeDocument/2006/relationships/slide" Target="/ppt/slides/slide1.xml" Id="R2551d3e9dde749f2" /><Relationship Type="http://schemas.openxmlformats.org/officeDocument/2006/relationships/slide" Target="/ppt/slides/slide2.xml" Id="R49894ab06c4d4e99" /><Relationship Type="http://schemas.openxmlformats.org/officeDocument/2006/relationships/slide" Target="/ppt/slides/slide3.xml" Id="Rffeba9402c8448de" /><Relationship Type="http://schemas.openxmlformats.org/officeDocument/2006/relationships/slide" Target="/ppt/slides/slide4.xml" Id="R58876bc7080f4f33" /><Relationship Type="http://schemas.openxmlformats.org/officeDocument/2006/relationships/slide" Target="/ppt/slides/slide5.xml" Id="R64cc93522fcd4484" /><Relationship Type="http://schemas.openxmlformats.org/officeDocument/2006/relationships/slide" Target="/ppt/slides/slide6.xml" Id="Raf555d3b24404124" /><Relationship Type="http://schemas.openxmlformats.org/officeDocument/2006/relationships/slide" Target="/ppt/slides/slide7.xml" Id="R3e07d7a78a874f78" /><Relationship Type="http://schemas.openxmlformats.org/officeDocument/2006/relationships/slide" Target="/ppt/slides/slide8.xml" Id="R2418d93329eb4bf6" /><Relationship Type="http://schemas.openxmlformats.org/officeDocument/2006/relationships/slide" Target="/ppt/slides/slide9.xml" Id="Rcb3156b51d6048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353ec1ee064b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bc2eec171a4a51" /><Relationship Type="http://schemas.openxmlformats.org/officeDocument/2006/relationships/notesMaster" Target="/ppt/notesMasters/notesMaster1.xml" Id="R7a8f3af7b4ee4c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6b2a4dd6b34d8e" /><Relationship Type="http://schemas.openxmlformats.org/officeDocument/2006/relationships/notesMaster" Target="/ppt/notesMasters/notesMaster1.xml" Id="Rf1e790e0dc6640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1a81474d0f4e9d" /><Relationship Type="http://schemas.openxmlformats.org/officeDocument/2006/relationships/notesMaster" Target="/ppt/notesMasters/notesMaster1.xml" Id="Rba01fd40b5f24c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fb89b731d34e1c" /><Relationship Type="http://schemas.openxmlformats.org/officeDocument/2006/relationships/notesMaster" Target="/ppt/notesMasters/notesMaster1.xml" Id="R66803ac4a14240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bc593f0038434c" /><Relationship Type="http://schemas.openxmlformats.org/officeDocument/2006/relationships/notesMaster" Target="/ppt/notesMasters/notesMaster1.xml" Id="R52d8db34660149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90eccf979440da" /><Relationship Type="http://schemas.openxmlformats.org/officeDocument/2006/relationships/notesMaster" Target="/ppt/notesMasters/notesMaster1.xml" Id="Rcd3bd35b85e44c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e1142967534441" /><Relationship Type="http://schemas.openxmlformats.org/officeDocument/2006/relationships/notesMaster" Target="/ppt/notesMasters/notesMaster1.xml" Id="Rf9752e0b993340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b47eae08594a3a" /><Relationship Type="http://schemas.openxmlformats.org/officeDocument/2006/relationships/notesMaster" Target="/ppt/notesMasters/notesMaster1.xml" Id="R4200da0f0c9a42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45031ba912441a" /><Relationship Type="http://schemas.openxmlformats.org/officeDocument/2006/relationships/notesMaster" Target="/ppt/notesMasters/notesMaster1.xml" Id="Ra2554f77437947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THAR LIN HTET · 35 seconds</a:t>
            </a:r>
          </a:p>
          <a:p xmlns:a="http://schemas.openxmlformats.org/drawingml/2006/main">
            <a:r>
              <a:t/>
            </a:r>
          </a:p>
          <a:p xmlns:a="http://schemas.openxmlformats.org/drawingml/2006/main">
            <a:r>
              <a:t>Good morning. We are Thar Lin Htet, Honey Linn, and Mi Hsu Myat Win Myint.</a:t>
            </a:r>
          </a:p>
          <a:p xmlns:a="http://schemas.openxmlformats.org/drawingml/2006/main">
            <a:r>
              <a:t/>
            </a:r>
          </a:p>
          <a:p xmlns:a="http://schemas.openxmlformats.org/drawingml/2006/main">
            <a:r>
              <a:t>Our project adds a SonarQube quality gate to the backend API that we built in this course. The gate checks our code before deploy.sh sends anything to Azure.</a:t>
            </a:r>
          </a:p>
          <a:p xmlns:a="http://schemas.openxmlformats.org/drawingml/2006/main">
            <a:r>
              <a:t/>
            </a:r>
          </a:p>
          <a:p xmlns:a="http://schemas.openxmlformats.org/drawingml/2006/main">
            <a:r>
              <a:t>Today we will show the problem, explain SonarQube, and run a real deployment that gets stopped.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THAR LIN HTET · 1 minute 10 seconds</a:t>
            </a:r>
          </a:p>
          <a:p xmlns:a="http://schemas.openxmlformats.org/drawingml/2006/main">
            <a:r>
              <a:t/>
            </a:r>
          </a:p>
          <a:p xmlns:a="http://schemas.openxmlformats.org/drawingml/2006/main">
            <a:r>
              <a:t>Our scenario comes from the API we built throughout this course.</a:t>
            </a:r>
          </a:p>
          <a:p xmlns:a="http://schemas.openxmlformats.org/drawingml/2006/main">
            <a:r>
              <a:t/>
            </a:r>
          </a:p>
          <a:p xmlns:a="http://schemas.openxmlformats.org/drawingml/2006/main">
            <a:r>
              <a:t>Before this project, the workflow was simple. A developer changed the code, another person reviewed it, and deploy.sh copied the files to our Azure VM and restarted PM2.</a:t>
            </a:r>
          </a:p>
          <a:p xmlns:a="http://schemas.openxmlformats.org/drawingml/2006/main">
            <a:r>
              <a:t/>
            </a:r>
          </a:p>
          <a:p xmlns:a="http://schemas.openxmlformats.org/drawingml/2006/main">
            <a:r>
              <a:t>The problem is the space between review and deployment. A reviewer can be tired or rushed. If they miss a hard-coded password, an unsafe Docker setting, or a very complicated function, deploy.sh does not ask any questions. It continues.</a:t>
            </a:r>
          </a:p>
          <a:p xmlns:a="http://schemas.openxmlformats.org/drawingml/2006/main">
            <a:r>
              <a:t/>
            </a:r>
          </a:p>
          <a:p xmlns:a="http://schemas.openxmlformats.org/drawingml/2006/main">
            <a:r>
              <a:t>Our pain point was not that people never review code. The problem was that code quality depended on one person noticing every problem before the deadline.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THAR LIN HTET · 1 minute 15 seconds</a:t>
            </a:r>
          </a:p>
          <a:p xmlns:a="http://schemas.openxmlformats.org/drawingml/2006/main">
            <a:r>
              <a:t/>
            </a:r>
          </a:p>
          <a:p xmlns:a="http://schemas.openxmlformats.org/drawingml/2006/main">
            <a:r>
              <a:t>We tested the idea on our own code instead of inventing an example.</a:t>
            </a:r>
          </a:p>
          <a:p xmlns:a="http://schemas.openxmlformats.org/drawingml/2006/main">
            <a:r>
              <a:t/>
            </a:r>
          </a:p>
          <a:p xmlns:a="http://schemas.openxmlformats.org/drawingml/2006/main">
            <a:r>
              <a:t>The first SonarQube scan found nineteen issues. Our security rating was D. It reported unrestricted CORS, a Docker container running as root, recursive copying that could include sensitive files, and error handlers that hid useful information.</a:t>
            </a:r>
          </a:p>
          <a:p xmlns:a="http://schemas.openxmlformats.org/drawingml/2006/main">
            <a:r>
              <a:t/>
            </a:r>
          </a:p>
          <a:p xmlns:a="http://schemas.openxmlformats.org/drawingml/2006/main">
            <a:r>
              <a:t>While preparing the safe public repository, our manual audit found something even more serious. A Docker Compose file contained our Azure client secret, database password, and JWT secret in plaintext.</a:t>
            </a:r>
          </a:p>
          <a:p xmlns:a="http://schemas.openxmlformats.org/drawingml/2006/main">
            <a:r>
              <a:t/>
            </a:r>
          </a:p>
          <a:p xmlns:a="http://schemas.openxmlformats.org/drawingml/2006/main">
            <a:r>
              <a:t>SonarQube did not discover that file because we did not include the unsafe original in the demo repository. This distinction matters. The tool found nineteen code issues. Our manual audit found the live credentials.</a:t>
            </a:r>
          </a:p>
          <a:p xmlns:a="http://schemas.openxmlformats.org/drawingml/2006/main">
            <a:r>
              <a:t/>
            </a:r>
          </a:p>
          <a:p xmlns:a="http://schemas.openxmlformats.org/drawingml/2006/main">
            <a:r>
              <a:t>We rotated or removed sensitive values before publishing the repository. Honey will now explain the technology.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HONEY LINN · 1 minute</a:t>
            </a:r>
          </a:p>
          <a:p xmlns:a="http://schemas.openxmlformats.org/drawingml/2006/main">
            <a:r>
              <a:t/>
            </a:r>
          </a:p>
          <a:p xmlns:a="http://schemas.openxmlformats.org/drawingml/2006/main">
            <a:r>
              <a:t>SonarQube is a static analysis tool. It reads our source code and configuration files without starting the API.</a:t>
            </a:r>
          </a:p>
          <a:p xmlns:a="http://schemas.openxmlformats.org/drawingml/2006/main">
            <a:r>
              <a:t/>
            </a:r>
          </a:p>
          <a:p xmlns:a="http://schemas.openxmlformats.org/drawingml/2006/main">
            <a:r>
              <a:t>The process has three parts. First, the scanner uploads the code. Second, SonarQube applies its JavaScript and Docker rules and calculates ratings. Third, the quality gate decides whether the result passes.</a:t>
            </a:r>
          </a:p>
          <a:p xmlns:a="http://schemas.openxmlformats.org/drawingml/2006/main">
            <a:r>
              <a:t/>
            </a:r>
          </a:p>
          <a:p xmlns:a="http://schemas.openxmlformats.org/drawingml/2006/main">
            <a:r>
              <a:t>The important part is the exit code. A passing gate returns zero, so deploy.sh continues. A failing gate returns one, so the script stops before scp sends files to Azure.</a:t>
            </a:r>
          </a:p>
          <a:p xmlns:a="http://schemas.openxmlformats.org/drawingml/2006/main">
            <a:r>
              <a:t/>
            </a:r>
          </a:p>
          <a:p xmlns:a="http://schemas.openxmlformats.org/drawingml/2006/main">
            <a:r>
              <a:t>This makes the scan an enforced checkpoint instead of a report that everyone can ignore.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HONEY LINN · 1 minute 10 seconds</a:t>
            </a:r>
          </a:p>
          <a:p xmlns:a="http://schemas.openxmlformats.org/drawingml/2006/main">
            <a:r>
              <a:t/>
            </a:r>
          </a:p>
          <a:p xmlns:a="http://schemas.openxmlformats.org/drawingml/2006/main">
            <a:r>
              <a:t>This diagram shows the implementation.</a:t>
            </a:r>
          </a:p>
          <a:p xmlns:a="http://schemas.openxmlformats.org/drawingml/2006/main">
            <a:r>
              <a:t/>
            </a:r>
          </a:p>
          <a:p xmlns:a="http://schemas.openxmlformats.org/drawingml/2006/main">
            <a:r>
              <a:t>The developer runs the same deploy.sh used in class. We added Step zero. That step starts SonarQube in Docker when necessary, creates an analysis token, configures the gate, and scans the working tree.</a:t>
            </a:r>
          </a:p>
          <a:p xmlns:a="http://schemas.openxmlformats.org/drawingml/2006/main">
            <a:r>
              <a:t/>
            </a:r>
          </a:p>
          <a:p xmlns:a="http://schemas.openxmlformats.org/drawingml/2006/main">
            <a:r>
              <a:t>SonarQube sends its result back to the script. If the result passes, the existing deployment continues. It copies the API to Azure, connects through SSH, installs dependencies, applies Prisma migrations, and restarts PM2.</a:t>
            </a:r>
          </a:p>
          <a:p xmlns:a="http://schemas.openxmlformats.org/drawingml/2006/main">
            <a:r>
              <a:t/>
            </a:r>
          </a:p>
          <a:p xmlns:a="http://schemas.openxmlformats.org/drawingml/2006/main">
            <a:r>
              <a:t>If the result fails, the script exits immediately. scp never runs, so the Azure VM remains unchanged.</a:t>
            </a:r>
          </a:p>
          <a:p xmlns:a="http://schemas.openxmlformats.org/drawingml/2006/main">
            <a:r>
              <a:t/>
            </a:r>
          </a:p>
          <a:p xmlns:a="http://schemas.openxmlformats.org/drawingml/2006/main">
            <a:r>
              <a:t>Every box and connector in this diagram represents a real script or system in our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HONEY LINN · 50 seconds</a:t>
            </a:r>
          </a:p>
          <a:p xmlns:a="http://schemas.openxmlformats.org/drawingml/2006/main">
            <a:r>
              <a:t/>
            </a:r>
          </a:p>
          <a:p xmlns:a="http://schemas.openxmlformats.org/drawingml/2006/main">
            <a:r>
              <a:t>We made the demonstration repeatable with two Git branches.</a:t>
            </a:r>
          </a:p>
          <a:p xmlns:a="http://schemas.openxmlformats.org/drawingml/2006/main">
            <a:r>
              <a:t/>
            </a:r>
          </a:p>
          <a:p xmlns:a="http://schemas.openxmlformats.org/drawingml/2006/main">
            <a:r>
              <a:t>Main contains the fixed API. It reports zero issues, security rating A, and exit code zero.</a:t>
            </a:r>
          </a:p>
          <a:p xmlns:a="http://schemas.openxmlformats.org/drawingml/2006/main">
            <a:r>
              <a:t/>
            </a:r>
          </a:p>
          <a:p xmlns:a="http://schemas.openxmlformats.org/drawingml/2006/main">
            <a:r>
              <a:t>The feature branch adds sales reporting with deliberate problems. It reports seven issues, security rating E, and exit code one.</a:t>
            </a:r>
          </a:p>
          <a:p xmlns:a="http://schemas.openxmlformats.org/drawingml/2006/main">
            <a:r>
              <a:t/>
            </a:r>
          </a:p>
          <a:p xmlns:a="http://schemas.openxmlformats.org/drawingml/2006/main">
            <a:r>
              <a:t>The gate requires security and reliability ratings of A, zero blocker issues, no new issues, and duplication no higher than three percent.</a:t>
            </a:r>
          </a:p>
          <a:p xmlns:a="http://schemas.openxmlformats.org/drawingml/2006/main">
            <a:r>
              <a:t/>
            </a:r>
          </a:p>
          <a:p xmlns:a="http://schemas.openxmlformats.org/drawingml/2006/main">
            <a:r>
              <a:t>We did not add a coverage condition. Our course API has manual cURL test scripts but no unit-test suite, so a coverage gate would fail both branches and would not prove that the bad branch caused the failure.</a:t>
            </a:r>
          </a:p>
          <a:p xmlns:a="http://schemas.openxmlformats.org/drawingml/2006/main">
            <a:r>
              <a:t/>
            </a:r>
          </a:p>
          <a:p xmlns:a="http://schemas.openxmlformats.org/drawingml/2006/main">
            <a:r>
              <a:t>Thar will now run the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THAR LIN HTET · 1 minute 25 seconds</a:t>
            </a:r>
          </a:p>
          <a:p xmlns:a="http://schemas.openxmlformats.org/drawingml/2006/main">
            <a:r>
              <a:t/>
            </a:r>
          </a:p>
          <a:p xmlns:a="http://schemas.openxmlformats.org/drawingml/2006/main">
            <a:r>
              <a:t>Now I will run the live demonstration.</a:t>
            </a:r>
          </a:p>
          <a:p xmlns:a="http://schemas.openxmlformats.org/drawingml/2006/main">
            <a:r>
              <a:t/>
            </a:r>
          </a:p>
          <a:p xmlns:a="http://schemas.openxmlformats.org/drawingml/2006/main">
            <a:r>
              <a:t>First, I check out main and run the local demo script. Please watch the final line. It says QUALITY GATE PASSED and returns exit code zero.</a:t>
            </a:r>
          </a:p>
          <a:p xmlns:a="http://schemas.openxmlformats.org/drawingml/2006/main">
            <a:r>
              <a:t/>
            </a:r>
          </a:p>
          <a:p xmlns:a="http://schemas.openxmlformats.org/drawingml/2006/main">
            <a:r>
              <a:t>Second, I check out feature slash sales reporting. This is the branch in our open GitHub pull request.</a:t>
            </a:r>
          </a:p>
          <a:p xmlns:a="http://schemas.openxmlformats.org/drawingml/2006/main">
            <a:r>
              <a:t/>
            </a:r>
          </a:p>
          <a:p xmlns:a="http://schemas.openxmlformats.org/drawingml/2006/main">
            <a:r>
              <a:t>Third, I run the same deploy command used for the real project: dot slash deploy dot sh.</a:t>
            </a:r>
          </a:p>
          <a:p xmlns:a="http://schemas.openxmlformats.org/drawingml/2006/main">
            <a:r>
              <a:t/>
            </a:r>
          </a:p>
          <a:p xmlns:a="http://schemas.openxmlformats.org/drawingml/2006/main">
            <a:r>
              <a:t>The scan reports the problems and returns exit code one. The script prints DEPLOY ABORTED. Notice that Step one never appears. That proves scp did not run and no file reached Azure.</a:t>
            </a:r>
          </a:p>
          <a:p xmlns:a="http://schemas.openxmlformats.org/drawingml/2006/main">
            <a:r>
              <a:t/>
            </a:r>
          </a:p>
          <a:p xmlns:a="http://schemas.openxmlformats.org/drawingml/2006/main">
            <a:r>
              <a:t>GitHub says this branch has no merge conflicts. That only means the files can be combined. SonarQube answers a different question: whether the code meets our quality rules.</a:t>
            </a:r>
          </a:p>
          <a:p xmlns:a="http://schemas.openxmlformats.org/drawingml/2006/main">
            <a:r>
              <a:t/>
            </a:r>
          </a:p>
          <a:p xmlns:a="http://schemas.openxmlformats.org/drawingml/2006/main">
            <a:r>
              <a:t>[LIVE COMMANDS]</a:t>
            </a:r>
          </a:p>
          <a:p xmlns:a="http://schemas.openxmlformats.org/drawingml/2006/main">
            <a:r>
              <a:t>git checkout main</a:t>
            </a:r>
          </a:p>
          <a:p xmlns:a="http://schemas.openxmlformats.org/drawingml/2006/main">
            <a:r>
              <a:t>./scripts/run-local-demo.sh</a:t>
            </a:r>
          </a:p>
          <a:p xmlns:a="http://schemas.openxmlformats.org/drawingml/2006/main">
            <a:r>
              <a:t>git checkout feature/sales-reporting</a:t>
            </a:r>
          </a:p>
          <a:p xmlns:a="http://schemas.openxmlformats.org/drawingml/2006/main">
            <a:r>
              <a:t>./deploy.sh</a:t>
            </a:r>
          </a:p>
          <a:p xmlns:a="http://schemas.openxmlformats.org/drawingml/2006/main">
            <a:r>
              <a:t/>
            </a:r>
          </a:p>
          <a:p xmlns:a="http://schemas.openxmlformats.org/drawingml/2006/main">
            <a:r>
              <a:t>[After the demo, return to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HSU MYAT WIN MYINT · 1 minute 15 seconds</a:t>
            </a:r>
          </a:p>
          <a:p xmlns:a="http://schemas.openxmlformats.org/drawingml/2006/main">
            <a:r>
              <a:t/>
            </a:r>
          </a:p>
          <a:p xmlns:a="http://schemas.openxmlformats.org/drawingml/2006/main">
            <a:r>
              <a:t>These are the verified results from the failing branch.</a:t>
            </a:r>
          </a:p>
          <a:p xmlns:a="http://schemas.openxmlformats.org/drawingml/2006/main">
            <a:r>
              <a:t/>
            </a:r>
          </a:p>
          <a:p xmlns:a="http://schemas.openxmlformats.org/drawingml/2006/main">
            <a:r>
              <a:t>SonarQube reports seven issues, security rating E, and one blocker.</a:t>
            </a:r>
          </a:p>
          <a:p xmlns:a="http://schemas.openxmlformats.org/drawingml/2006/main">
            <a:r>
              <a:t/>
            </a:r>
          </a:p>
          <a:p xmlns:a="http://schemas.openxmlformats.org/drawingml/2006/main">
            <a:r>
              <a:t>The blocker is a literal key passed to JWT sign. Anyone who reads that source can use the same key to create a token that our API accepts.</a:t>
            </a:r>
          </a:p>
          <a:p xmlns:a="http://schemas.openxmlformats.org/drawingml/2006/main">
            <a:r>
              <a:t/>
            </a:r>
          </a:p>
          <a:p xmlns:a="http://schemas.openxmlformats.org/drawingml/2006/main">
            <a:r>
              <a:t>The other findings include a hard-coded database password, Math.random used for a download token, MD5 used for a fingerprint, and a commission function with cognitive complexity thirty-four. The configured limit is fifteen.</a:t>
            </a:r>
          </a:p>
          <a:p xmlns:a="http://schemas.openxmlformats.org/drawingml/2006/main">
            <a:r>
              <a:t/>
            </a:r>
          </a:p>
          <a:p xmlns:a="http://schemas.openxmlformats.org/drawingml/2006/main">
            <a:r>
              <a:t>Three gate conditions fail: the security rating, the blocker count, and the new issue count. Any one of those failures is enough to stop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HSU MYAT WIN MYINT · 1 minute 20 seconds</a:t>
            </a:r>
          </a:p>
          <a:p xmlns:a="http://schemas.openxmlformats.org/drawingml/2006/main">
            <a:r>
              <a:t/>
            </a:r>
          </a:p>
          <a:p xmlns:a="http://schemas.openxmlformats.org/drawingml/2006/main">
            <a:r>
              <a:t>The most important result is what the gate did not catch.</a:t>
            </a:r>
          </a:p>
          <a:p xmlns:a="http://schemas.openxmlformats.org/drawingml/2006/main">
            <a:r>
              <a:t/>
            </a:r>
          </a:p>
          <a:p xmlns:a="http://schemas.openxmlformats.org/drawingml/2006/main">
            <a:r>
              <a:t>First, reporting.js contains a SQL query built with string concatenation, exactly what we learned to avoid. We tested three JavaScript injection patterns. Community Build reported zero injection issues. The taint-analysis rule requires Developer Edition or SonarQube Cloud.</a:t>
            </a:r>
          </a:p>
          <a:p xmlns:a="http://schemas.openxmlformats.org/drawingml/2006/main">
            <a:r>
              <a:t/>
            </a:r>
          </a:p>
          <a:p xmlns:a="http://schemas.openxmlformats.org/drawingml/2006/main">
            <a:r>
              <a:t>Second, the bulk import route writes products but forgets to clear the Redis cache. Users can receive old data for sixty seconds. Static analysis cannot know that our business logic requires cache invalidation.</a:t>
            </a:r>
          </a:p>
          <a:p xmlns:a="http://schemas.openxmlformats.org/drawingml/2006/main">
            <a:r>
              <a:t/>
            </a:r>
          </a:p>
          <a:p xmlns:a="http://schemas.openxmlformats.org/drawingml/2006/main">
            <a:r>
              <a:t>Our conclusion is simple. Automated checks handle repeatable rules consistently. Human reviewers still check system behavior and business logic. Using both gives the team a safer deployment process.</a:t>
            </a:r>
          </a:p>
          <a:p xmlns:a="http://schemas.openxmlformats.org/drawingml/2006/main">
            <a:r>
              <a:t/>
            </a:r>
          </a:p>
          <a:p xmlns:a="http://schemas.openxmlformats.org/drawingml/2006/main">
            <a:r>
              <a:t>The complete runnable code, both branches, diagrams, and instructions are available in our public GitHub repository.</a:t>
            </a:r>
          </a:p>
          <a:p xmlns:a="http://schemas.openxmlformats.org/drawingml/2006/main">
            <a:r>
              <a:t/>
            </a:r>
          </a:p>
          <a:p xmlns:a="http://schemas.openxmlformats.org/drawingml/2006/main">
            <a:r>
              <a:t>Thank you. We are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b094b7915940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aee603e2024532" /><Relationship Type="http://schemas.openxmlformats.org/officeDocument/2006/relationships/slideLayout" Target="/ppt/slideLayouts/slideLayout1.xml" Id="Ra56c25d909a048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6c25d909a048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f9fc07396b46d6" /><Relationship Type="http://schemas.openxmlformats.org/officeDocument/2006/relationships/notesSlide" Target="/ppt/notesSlides/notesSlide1.xml" Id="R74f5f8fa954448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b8b8f404da4e81" /><Relationship Type="http://schemas.openxmlformats.org/officeDocument/2006/relationships/notesSlide" Target="/ppt/notesSlides/notesSlide2.xml" Id="Raf45baae7f744b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97b353af6746ed" /><Relationship Type="http://schemas.openxmlformats.org/officeDocument/2006/relationships/notesSlide" Target="/ppt/notesSlides/notesSlide3.xml" Id="Rca22e709c1454d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d739ed287e41d1" /><Relationship Type="http://schemas.openxmlformats.org/officeDocument/2006/relationships/notesSlide" Target="/ppt/notesSlides/notesSlide4.xml" Id="Ra7a570c980ce45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ea4ee8dc0c4f2a" /><Relationship Type="http://schemas.openxmlformats.org/officeDocument/2006/relationships/notesSlide" Target="/ppt/notesSlides/notesSlide5.xml" Id="Rf8912ffd99c34c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6231db83964bb8" /><Relationship Type="http://schemas.openxmlformats.org/officeDocument/2006/relationships/notesSlide" Target="/ppt/notesSlides/notesSlide6.xml" Id="Ra0210f2b9ac748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343e69c1844fdb" /><Relationship Type="http://schemas.openxmlformats.org/officeDocument/2006/relationships/notesSlide" Target="/ppt/notesSlides/notesSlide7.xml" Id="R02e28bf8615f40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66ae78afc54940" /><Relationship Type="http://schemas.openxmlformats.org/officeDocument/2006/relationships/notesSlide" Target="/ppt/notesSlides/notesSlide8.xml" Id="Ra364d02c7bfb4f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056efa87afb4868" /><Relationship Type="http://schemas.openxmlformats.org/officeDocument/2006/relationships/notesSlide" Target="/ppt/notesSlides/notesSlide9.xml" Id="Rc8bd9ac695b949a9" /></Relationships>
</file>

<file path=ppt/slides/slide1.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5CD9F5-C051-436A-AEA0-A8B399E7551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2" name="">
            <a:extLst xmlns:a="http://schemas.openxmlformats.org/drawingml/2006/main">
              <a:ext uri="{FF2B5EF4-FFF2-40B4-BE49-F238E27FC236}">
                <a16:creationId xmlns:a16="http://schemas.microsoft.com/office/drawing/2014/main" id="{3868C390-265C-4775-BC04-C56BAA5B01E9}"/>
              </a:ext>
            </a:extLst>
          </p:cNvPr>
          <p:cNvSpPr>
            <a:spLocks xmlns:a="http://schemas.openxmlformats.org/drawingml/2006/main" noGrp="1"/>
          </p:cNvSpPr>
          <p:nvPr/>
        </p:nvSpPr>
        <p:spPr>
          <a:xfrm xmlns:a="http://schemas.openxmlformats.org/drawingml/2006/main">
            <a:off x="723900" y="12192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20C7B0"/>
                </a:solidFill>
                <a:latin typeface="Helvetica Neue"/>
                <a:ea typeface="Helvetica Neue"/>
                <a:cs typeface="Helvetica Neue"/>
              </a:defRPr>
            </a:pPr>
            <a:r>
              <a:rPr sz="1500" b="1">
                <a:solidFill>
                  <a:srgbClr val="20C7B0"/>
                </a:solidFill>
                <a:latin typeface="Helvetica Neue"/>
                <a:ea typeface="Helvetica Neue"/>
                <a:cs typeface="Helvetica Neue"/>
              </a:rPr>
              <a:t>SONARQUBE QUALITY GATE</a:t>
            </a:r>
          </a:p>
        </p:txBody>
      </p:sp>
      <p:sp>
        <p:nvSpPr>
          <p:cNvPr id="3" name="">
            <a:extLst xmlns:a="http://schemas.openxmlformats.org/drawingml/2006/main">
              <a:ext uri="{FF2B5EF4-FFF2-40B4-BE49-F238E27FC236}">
                <a16:creationId xmlns:a16="http://schemas.microsoft.com/office/drawing/2014/main" id="{94A11B5F-C516-4FB3-8CD6-2DB1543F8F4A}"/>
              </a:ext>
            </a:extLst>
          </p:cNvPr>
          <p:cNvSpPr>
            <a:spLocks xmlns:a="http://schemas.openxmlformats.org/drawingml/2006/main" noGrp="1"/>
          </p:cNvSpPr>
          <p:nvPr/>
        </p:nvSpPr>
        <p:spPr>
          <a:xfrm xmlns:a="http://schemas.openxmlformats.org/drawingml/2006/main">
            <a:off x="723900" y="1676400"/>
            <a:ext cx="8382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Safer deployment for</a:t>
            </a:r>
          </a:p>
          <a:p xmlns:a="http://schemas.openxmlformats.org/drawingml/2006/main">
            <a:pPr algn="l">
              <a:lnSpc>
                <a:spcPct val="96000"/>
              </a:lnSpc>
              <a:buNone/>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our backend API</a:t>
            </a:r>
          </a:p>
        </p:txBody>
      </p:sp>
      <p:sp>
        <p:nvSpPr>
          <p:cNvPr id="4" name="">
            <a:extLst xmlns:a="http://schemas.openxmlformats.org/drawingml/2006/main">
              <a:ext uri="{FF2B5EF4-FFF2-40B4-BE49-F238E27FC236}">
                <a16:creationId xmlns:a16="http://schemas.microsoft.com/office/drawing/2014/main" id="{ED477476-6F4E-471C-A8AB-B406D3863F27}"/>
              </a:ext>
            </a:extLst>
          </p:cNvPr>
          <p:cNvSpPr>
            <a:spLocks xmlns:a="http://schemas.openxmlformats.org/drawingml/2006/main" noGrp="1"/>
          </p:cNvSpPr>
          <p:nvPr/>
        </p:nvSpPr>
        <p:spPr>
          <a:xfrm xmlns:a="http://schemas.openxmlformats.org/drawingml/2006/main">
            <a:off x="742950" y="35623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A7B5C4"/>
                </a:solidFill>
                <a:latin typeface="Helvetica Neue"/>
                <a:ea typeface="Helvetica Neue"/>
                <a:cs typeface="Helvetica Neue"/>
              </a:defRPr>
            </a:pPr>
            <a:r>
              <a:rPr sz="1650" b="0">
                <a:solidFill>
                  <a:srgbClr val="A7B5C4"/>
                </a:solidFill>
                <a:latin typeface="Helvetica Neue"/>
                <a:ea typeface="Helvetica Neue"/>
                <a:cs typeface="Helvetica Neue"/>
              </a:rPr>
              <a:t>Backend Application Development · CSX4110</a:t>
            </a:r>
          </a:p>
        </p:txBody>
      </p:sp>
      <p:sp>
        <p:nvSpPr>
          <p:cNvPr id="5" name="">
            <a:extLst xmlns:a="http://schemas.openxmlformats.org/drawingml/2006/main">
              <a:ext uri="{FF2B5EF4-FFF2-40B4-BE49-F238E27FC236}">
                <a16:creationId xmlns:a16="http://schemas.microsoft.com/office/drawing/2014/main" id="{759D91AA-184A-43DA-927C-88CB28CD012D}"/>
              </a:ext>
            </a:extLst>
          </p:cNvPr>
          <p:cNvSpPr>
            <a:spLocks xmlns:a="http://schemas.openxmlformats.org/drawingml/2006/main" noGrp="1"/>
          </p:cNvSpPr>
          <p:nvPr/>
        </p:nvSpPr>
        <p:spPr>
          <a:xfrm xmlns:a="http://schemas.openxmlformats.org/drawingml/2006/main">
            <a:off x="742950" y="4114800"/>
            <a:ext cx="5334000" cy="19050"/>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6" name="">
            <a:extLst xmlns:a="http://schemas.openxmlformats.org/drawingml/2006/main">
              <a:ext uri="{FF2B5EF4-FFF2-40B4-BE49-F238E27FC236}">
                <a16:creationId xmlns:a16="http://schemas.microsoft.com/office/drawing/2014/main" id="{DDF1E7C6-8143-4CF2-9E19-355DCDE90650}"/>
              </a:ext>
            </a:extLst>
          </p:cNvPr>
          <p:cNvSpPr>
            <a:spLocks xmlns:a="http://schemas.openxmlformats.org/drawingml/2006/main" noGrp="1"/>
          </p:cNvSpPr>
          <p:nvPr/>
        </p:nvSpPr>
        <p:spPr>
          <a:xfrm xmlns:a="http://schemas.openxmlformats.org/drawingml/2006/main">
            <a:off x="742950" y="43624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Thar Lin Htet  ·  Honey Linn  ·  Mi Hsu Myat Win Myint</a:t>
            </a:r>
          </a:p>
        </p:txBody>
      </p:sp>
      <p:sp>
        <p:nvSpPr>
          <p:cNvPr id="7" name="">
            <a:extLst xmlns:a="http://schemas.openxmlformats.org/drawingml/2006/main">
              <a:ext uri="{FF2B5EF4-FFF2-40B4-BE49-F238E27FC236}">
                <a16:creationId xmlns:a16="http://schemas.microsoft.com/office/drawing/2014/main" id="{1816F3E9-447F-47B1-BC72-597AC45633EC}"/>
              </a:ext>
            </a:extLst>
          </p:cNvPr>
          <p:cNvSpPr>
            <a:spLocks xmlns:a="http://schemas.openxmlformats.org/drawingml/2006/main" noGrp="1"/>
          </p:cNvSpPr>
          <p:nvPr/>
        </p:nvSpPr>
        <p:spPr>
          <a:xfrm xmlns:a="http://schemas.openxmlformats.org/drawingml/2006/main">
            <a:off x="8667750" y="1581150"/>
            <a:ext cx="1657350" cy="1200150"/>
          </a:xfrm>
          <a:prstGeom xmlns:a="http://schemas.openxmlformats.org/drawingml/2006/main" prst="roundRect">
            <a:avLst>
              <a:gd name="adj" fmla="val 11111"/>
            </a:avLst>
          </a:prstGeom>
          <a:solidFill xmlns:a="http://schemas.openxmlformats.org/drawingml/2006/main">
            <a:srgbClr val="0C2134"/>
          </a:solidFill>
          <a:ln xmlns:a="http://schemas.openxmlformats.org/drawingml/2006/main" w="19050">
            <a:solidFill>
              <a:srgbClr val="24435B"/>
            </a:solidFill>
            <a:prstDash val="solid"/>
          </a:ln>
        </p:spPr>
      </p:sp>
      <p:sp>
        <p:nvSpPr>
          <p:cNvPr id="8" name="">
            <a:extLst xmlns:a="http://schemas.openxmlformats.org/drawingml/2006/main">
              <a:ext uri="{FF2B5EF4-FFF2-40B4-BE49-F238E27FC236}">
                <a16:creationId xmlns:a16="http://schemas.microsoft.com/office/drawing/2014/main" id="{015C8D4E-5909-4B67-B231-346F7ACC3DE7}"/>
              </a:ext>
            </a:extLst>
          </p:cNvPr>
          <p:cNvSpPr>
            <a:spLocks xmlns:a="http://schemas.openxmlformats.org/drawingml/2006/main" noGrp="1"/>
          </p:cNvSpPr>
          <p:nvPr/>
        </p:nvSpPr>
        <p:spPr>
          <a:xfrm xmlns:a="http://schemas.openxmlformats.org/drawingml/2006/main">
            <a:off x="8839200" y="1943100"/>
            <a:ext cx="1314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4D9DE0"/>
                </a:solidFill>
                <a:latin typeface="Helvetica Neue"/>
                <a:ea typeface="Helvetica Neue"/>
                <a:cs typeface="Helvetica Neue"/>
              </a:defRPr>
            </a:pPr>
            <a:r>
              <a:rPr sz="2025" b="1">
                <a:solidFill>
                  <a:srgbClr val="4D9DE0"/>
                </a:solidFill>
                <a:latin typeface="Helvetica Neue"/>
                <a:ea typeface="Helvetica Neue"/>
                <a:cs typeface="Helvetica Neue"/>
              </a:rPr>
              <a:t>{  API  }</a:t>
            </a:r>
          </a:p>
        </p:txBody>
      </p:sp>
      <p:sp>
        <p:nvSpPr>
          <p:cNvPr id="9" name="">
            <a:extLst xmlns:a="http://schemas.openxmlformats.org/drawingml/2006/main">
              <a:ext uri="{FF2B5EF4-FFF2-40B4-BE49-F238E27FC236}">
                <a16:creationId xmlns:a16="http://schemas.microsoft.com/office/drawing/2014/main" id="{68E21AD8-92E7-46B9-B28F-0CD68FAC33C2}"/>
              </a:ext>
            </a:extLst>
          </p:cNvPr>
          <p:cNvSpPr>
            <a:spLocks xmlns:a="http://schemas.openxmlformats.org/drawingml/2006/main" noGrp="1"/>
          </p:cNvSpPr>
          <p:nvPr/>
        </p:nvSpPr>
        <p:spPr>
          <a:xfrm xmlns:a="http://schemas.openxmlformats.org/drawingml/2006/main">
            <a:off x="9296400" y="3371850"/>
            <a:ext cx="1657350" cy="1200150"/>
          </a:xfrm>
          <a:prstGeom xmlns:a="http://schemas.openxmlformats.org/drawingml/2006/main" prst="roundRect">
            <a:avLst>
              <a:gd name="adj" fmla="val 11111"/>
            </a:avLst>
          </a:prstGeom>
          <a:solidFill xmlns:a="http://schemas.openxmlformats.org/drawingml/2006/main">
            <a:srgbClr val="0B3B38"/>
          </a:solidFill>
          <a:ln xmlns:a="http://schemas.openxmlformats.org/drawingml/2006/main" w="19050">
            <a:solidFill>
              <a:srgbClr val="20C7B0"/>
            </a:solidFill>
            <a:prstDash val="solid"/>
          </a:ln>
        </p:spPr>
      </p:sp>
      <p:sp>
        <p:nvSpPr>
          <p:cNvPr id="10" name="">
            <a:extLst xmlns:a="http://schemas.openxmlformats.org/drawingml/2006/main">
              <a:ext uri="{FF2B5EF4-FFF2-40B4-BE49-F238E27FC236}">
                <a16:creationId xmlns:a16="http://schemas.microsoft.com/office/drawing/2014/main" id="{3063C74B-659A-4FA8-A039-FADFD1AF49F1}"/>
              </a:ext>
            </a:extLst>
          </p:cNvPr>
          <p:cNvSpPr>
            <a:spLocks xmlns:a="http://schemas.openxmlformats.org/drawingml/2006/main" noGrp="1"/>
          </p:cNvSpPr>
          <p:nvPr/>
        </p:nvSpPr>
        <p:spPr>
          <a:xfrm xmlns:a="http://schemas.openxmlformats.org/drawingml/2006/main">
            <a:off x="9486900" y="3552825"/>
            <a:ext cx="1276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4000"/>
              </a:lnSpc>
              <a:buNone/>
              <a:defRPr sz="1650" b="1">
                <a:solidFill>
                  <a:srgbClr val="20C7B0"/>
                </a:solidFill>
                <a:latin typeface="Helvetica Neue"/>
                <a:ea typeface="Helvetica Neue"/>
                <a:cs typeface="Helvetica Neue"/>
              </a:defRPr>
            </a:pPr>
            <a:r>
              <a:rPr sz="1650" b="1">
                <a:solidFill>
                  <a:srgbClr val="20C7B0"/>
                </a:solidFill>
                <a:latin typeface="Helvetica Neue"/>
                <a:ea typeface="Helvetica Neue"/>
                <a:cs typeface="Helvetica Neue"/>
              </a:rPr>
              <a:t>PASS</a:t>
            </a:r>
          </a:p>
          <a:p xmlns:a="http://schemas.openxmlformats.org/drawingml/2006/main">
            <a:pPr algn="ctr">
              <a:lnSpc>
                <a:spcPct val="94000"/>
              </a:lnSpc>
              <a:buNone/>
              <a:defRPr sz="1650" b="1">
                <a:solidFill>
                  <a:srgbClr val="20C7B0"/>
                </a:solidFill>
                <a:latin typeface="Helvetica Neue"/>
                <a:ea typeface="Helvetica Neue"/>
                <a:cs typeface="Helvetica Neue"/>
              </a:defRPr>
            </a:pPr>
            <a:r>
              <a:rPr sz="1650" b="1">
                <a:solidFill>
                  <a:srgbClr val="20C7B0"/>
                </a:solidFill>
                <a:latin typeface="Helvetica Neue"/>
                <a:ea typeface="Helvetica Neue"/>
                <a:cs typeface="Helvetica Neue"/>
              </a:rPr>
              <a:t>OR</a:t>
            </a:r>
          </a:p>
          <a:p xmlns:a="http://schemas.openxmlformats.org/drawingml/2006/main">
            <a:pPr algn="ctr">
              <a:lnSpc>
                <a:spcPct val="94000"/>
              </a:lnSpc>
              <a:buNone/>
              <a:defRPr sz="1650" b="1">
                <a:solidFill>
                  <a:srgbClr val="20C7B0"/>
                </a:solidFill>
                <a:latin typeface="Helvetica Neue"/>
                <a:ea typeface="Helvetica Neue"/>
                <a:cs typeface="Helvetica Neue"/>
              </a:defRPr>
            </a:pPr>
            <a:r>
              <a:rPr sz="1650" b="1">
                <a:solidFill>
                  <a:srgbClr val="20C7B0"/>
                </a:solidFill>
                <a:latin typeface="Helvetica Neue"/>
                <a:ea typeface="Helvetica Neue"/>
                <a:cs typeface="Helvetica Neue"/>
              </a:rPr>
              <a:t>STOP</a:t>
            </a:r>
          </a:p>
        </p:txBody>
      </p:sp>
      <p:cxnSp>
        <p:nvCxnSpPr>
          <p:cNvPr id="24" name=""/>
          <p:cNvCxnSpPr>
            <a:stCxn xmlns:a="http://schemas.openxmlformats.org/drawingml/2006/main" id="7" idx="2"/>
            <a:endCxn xmlns:a="http://schemas.openxmlformats.org/drawingml/2006/main" id="9" idx="0"/>
          </p:cNvCxnSpPr>
          <p:nvPr/>
        </p:nvCxnSpPr>
        <p:spPr>
          <a:xfrm xmlns:a="http://schemas.openxmlformats.org/drawingml/2006/main">
            <a:off x="9496425" y="2781300"/>
            <a:ext cx="628650" cy="590550"/>
          </a:xfrm>
          <a:prstGeom xmlns:a="http://schemas.openxmlformats.org/drawingml/2006/main" prst="bentConnector4">
            <a:avLst>
              <a:gd name="adj1" fmla="val 0"/>
              <a:gd name="adj2" fmla="val 50000"/>
            </a:avLst>
          </a:prstGeom>
          <a:ln xmlns:a="http://schemas.openxmlformats.org/drawingml/2006/main" w="28575">
            <a:solidFill>
              <a:srgbClr val="20C7B0"/>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241F1580-79E7-4E47-BE1B-D7E19C000E3A}"/>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THAR · 0:35</a:t>
            </a:r>
          </a:p>
        </p:txBody>
      </p:sp>
      <p:sp>
        <p:nvSpPr>
          <p:cNvPr id="13" name="">
            <a:extLst xmlns:a="http://schemas.openxmlformats.org/drawingml/2006/main">
              <a:ext uri="{FF2B5EF4-FFF2-40B4-BE49-F238E27FC236}">
                <a16:creationId xmlns:a16="http://schemas.microsoft.com/office/drawing/2014/main" id="{E202972C-9BC8-43E3-96FC-C42B9F35DB8B}"/>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01</a:t>
            </a:r>
          </a:p>
        </p:txBody>
      </p:sp>
    </p:spTree>
    <p:extLst>
      <p:ext uri="{BB962C8B-B14F-4D97-AF65-F5344CB8AC3E}">
        <p14:creationId xmlns:p14="http://schemas.microsoft.com/office/powerpoint/2010/main" val="611346038"/>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FC1C3A1-8D06-4EC8-99A9-E4CFD5D9E326}"/>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132238"/>
                </a:solidFill>
                <a:latin typeface="Helvetica Neue"/>
                <a:ea typeface="Helvetica Neue"/>
                <a:cs typeface="Helvetica Neue"/>
              </a:defRPr>
            </a:pPr>
            <a:r>
              <a:rPr sz="2775" b="1">
                <a:solidFill>
                  <a:srgbClr val="132238"/>
                </a:solidFill>
                <a:latin typeface="Helvetica Neue"/>
                <a:ea typeface="Helvetica Neue"/>
                <a:cs typeface="Helvetica Neue"/>
              </a:rPr>
              <a:t>Scenario: manual review before every deployment</a:t>
            </a:r>
          </a:p>
        </p:txBody>
      </p:sp>
      <p:sp>
        <p:nvSpPr>
          <p:cNvPr id="2" name="">
            <a:extLst xmlns:a="http://schemas.openxmlformats.org/drawingml/2006/main">
              <a:ext uri="{FF2B5EF4-FFF2-40B4-BE49-F238E27FC236}">
                <a16:creationId xmlns:a16="http://schemas.microsoft.com/office/drawing/2014/main" id="{BE56ECBE-5428-4CB3-8D6F-7E2CB174DEA8}"/>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688B0EF5-5D99-49C8-8A1B-E86FC0AE6D4E}"/>
              </a:ext>
            </a:extLst>
          </p:cNvPr>
          <p:cNvSpPr>
            <a:spLocks xmlns:a="http://schemas.openxmlformats.org/drawingml/2006/main" noGrp="1"/>
          </p:cNvSpPr>
          <p:nvPr/>
        </p:nvSpPr>
        <p:spPr>
          <a:xfrm xmlns:a="http://schemas.openxmlformats.org/drawingml/2006/main">
            <a:off x="609600" y="14097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26579"/>
                </a:solidFill>
                <a:latin typeface="Helvetica Neue"/>
                <a:ea typeface="Helvetica Neue"/>
                <a:cs typeface="Helvetica Neue"/>
              </a:defRPr>
            </a:pPr>
            <a:r>
              <a:rPr sz="1350" b="1">
                <a:solidFill>
                  <a:srgbClr val="526579"/>
                </a:solidFill>
                <a:latin typeface="Helvetica Neue"/>
                <a:ea typeface="Helvetica Neue"/>
                <a:cs typeface="Helvetica Neue"/>
              </a:rPr>
              <a:t>Our old deployment process</a:t>
            </a:r>
          </a:p>
        </p:txBody>
      </p:sp>
      <p:sp>
        <p:nvSpPr>
          <p:cNvPr id="4" name="">
            <a:extLst xmlns:a="http://schemas.openxmlformats.org/drawingml/2006/main">
              <a:ext uri="{FF2B5EF4-FFF2-40B4-BE49-F238E27FC236}">
                <a16:creationId xmlns:a16="http://schemas.microsoft.com/office/drawing/2014/main" id="{EA5DBD0F-E53B-4CC4-A0F5-82BA97C9BE35}"/>
              </a:ext>
            </a:extLst>
          </p:cNvPr>
          <p:cNvSpPr>
            <a:spLocks xmlns:a="http://schemas.openxmlformats.org/drawingml/2006/main" noGrp="1"/>
          </p:cNvSpPr>
          <p:nvPr/>
        </p:nvSpPr>
        <p:spPr>
          <a:xfrm xmlns:a="http://schemas.openxmlformats.org/drawingml/2006/main">
            <a:off x="609600" y="2038350"/>
            <a:ext cx="2000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19050">
            <a:solidFill>
              <a:srgbClr val="D9E2EC"/>
            </a:solidFill>
            <a:prstDash val="solid"/>
          </a:ln>
        </p:spPr>
      </p:sp>
      <p:sp>
        <p:nvSpPr>
          <p:cNvPr id="5" name="">
            <a:extLst xmlns:a="http://schemas.openxmlformats.org/drawingml/2006/main">
              <a:ext uri="{FF2B5EF4-FFF2-40B4-BE49-F238E27FC236}">
                <a16:creationId xmlns:a16="http://schemas.microsoft.com/office/drawing/2014/main" id="{FD443FFE-FCC0-4AEA-9084-98EA5C68E8E8}"/>
              </a:ext>
            </a:extLst>
          </p:cNvPr>
          <p:cNvSpPr>
            <a:spLocks xmlns:a="http://schemas.openxmlformats.org/drawingml/2006/main" noGrp="1"/>
          </p:cNvSpPr>
          <p:nvPr/>
        </p:nvSpPr>
        <p:spPr>
          <a:xfrm xmlns:a="http://schemas.openxmlformats.org/drawingml/2006/main">
            <a:off x="762000" y="2181225"/>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Developer</a:t>
            </a:r>
          </a:p>
        </p:txBody>
      </p:sp>
      <p:sp>
        <p:nvSpPr>
          <p:cNvPr id="6" name="">
            <a:extLst xmlns:a="http://schemas.openxmlformats.org/drawingml/2006/main">
              <a:ext uri="{FF2B5EF4-FFF2-40B4-BE49-F238E27FC236}">
                <a16:creationId xmlns:a16="http://schemas.microsoft.com/office/drawing/2014/main" id="{25608108-AAA8-4413-BED9-41BA745B6883}"/>
              </a:ext>
            </a:extLst>
          </p:cNvPr>
          <p:cNvSpPr>
            <a:spLocks xmlns:a="http://schemas.openxmlformats.org/drawingml/2006/main" noGrp="1"/>
          </p:cNvSpPr>
          <p:nvPr/>
        </p:nvSpPr>
        <p:spPr>
          <a:xfrm xmlns:a="http://schemas.openxmlformats.org/drawingml/2006/main">
            <a:off x="742950" y="2505075"/>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changes app.js</a:t>
            </a:r>
          </a:p>
        </p:txBody>
      </p:sp>
      <p:sp>
        <p:nvSpPr>
          <p:cNvPr id="7" name="">
            <a:extLst xmlns:a="http://schemas.openxmlformats.org/drawingml/2006/main">
              <a:ext uri="{FF2B5EF4-FFF2-40B4-BE49-F238E27FC236}">
                <a16:creationId xmlns:a16="http://schemas.microsoft.com/office/drawing/2014/main" id="{00266EC9-C221-40F2-B03D-CEC2382E8768}"/>
              </a:ext>
            </a:extLst>
          </p:cNvPr>
          <p:cNvSpPr>
            <a:spLocks xmlns:a="http://schemas.openxmlformats.org/drawingml/2006/main" noGrp="1"/>
          </p:cNvSpPr>
          <p:nvPr/>
        </p:nvSpPr>
        <p:spPr>
          <a:xfrm xmlns:a="http://schemas.openxmlformats.org/drawingml/2006/main">
            <a:off x="3143250" y="2038350"/>
            <a:ext cx="2000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19050">
            <a:solidFill>
              <a:srgbClr val="D9E2EC"/>
            </a:solidFill>
            <a:prstDash val="solid"/>
          </a:ln>
        </p:spPr>
      </p:sp>
      <p:sp>
        <p:nvSpPr>
          <p:cNvPr id="8" name="">
            <a:extLst xmlns:a="http://schemas.openxmlformats.org/drawingml/2006/main">
              <a:ext uri="{FF2B5EF4-FFF2-40B4-BE49-F238E27FC236}">
                <a16:creationId xmlns:a16="http://schemas.microsoft.com/office/drawing/2014/main" id="{9D938339-D11B-4C4E-A0F9-1C071DC1CFDF}"/>
              </a:ext>
            </a:extLst>
          </p:cNvPr>
          <p:cNvSpPr>
            <a:spLocks xmlns:a="http://schemas.openxmlformats.org/drawingml/2006/main" noGrp="1"/>
          </p:cNvSpPr>
          <p:nvPr/>
        </p:nvSpPr>
        <p:spPr>
          <a:xfrm xmlns:a="http://schemas.openxmlformats.org/drawingml/2006/main">
            <a:off x="3295650" y="2181225"/>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Reviewer</a:t>
            </a:r>
          </a:p>
        </p:txBody>
      </p:sp>
      <p:sp>
        <p:nvSpPr>
          <p:cNvPr id="9" name="">
            <a:extLst xmlns:a="http://schemas.openxmlformats.org/drawingml/2006/main">
              <a:ext uri="{FF2B5EF4-FFF2-40B4-BE49-F238E27FC236}">
                <a16:creationId xmlns:a16="http://schemas.microsoft.com/office/drawing/2014/main" id="{F330B1E7-AFF0-41D0-AF86-D5D979B0C4C0}"/>
              </a:ext>
            </a:extLst>
          </p:cNvPr>
          <p:cNvSpPr>
            <a:spLocks xmlns:a="http://schemas.openxmlformats.org/drawingml/2006/main" noGrp="1"/>
          </p:cNvSpPr>
          <p:nvPr/>
        </p:nvSpPr>
        <p:spPr>
          <a:xfrm xmlns:a="http://schemas.openxmlformats.org/drawingml/2006/main">
            <a:off x="3276600" y="2505075"/>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reads the diff</a:t>
            </a:r>
          </a:p>
        </p:txBody>
      </p:sp>
      <p:sp>
        <p:nvSpPr>
          <p:cNvPr id="10" name="">
            <a:extLst xmlns:a="http://schemas.openxmlformats.org/drawingml/2006/main">
              <a:ext uri="{FF2B5EF4-FFF2-40B4-BE49-F238E27FC236}">
                <a16:creationId xmlns:a16="http://schemas.microsoft.com/office/drawing/2014/main" id="{AC715444-69E2-4B65-9C17-38297B54E80E}"/>
              </a:ext>
            </a:extLst>
          </p:cNvPr>
          <p:cNvSpPr>
            <a:spLocks xmlns:a="http://schemas.openxmlformats.org/drawingml/2006/main" noGrp="1"/>
          </p:cNvSpPr>
          <p:nvPr/>
        </p:nvSpPr>
        <p:spPr>
          <a:xfrm xmlns:a="http://schemas.openxmlformats.org/drawingml/2006/main">
            <a:off x="5676900" y="2038350"/>
            <a:ext cx="2000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19050">
            <a:solidFill>
              <a:srgbClr val="D9E2EC"/>
            </a:solidFill>
            <a:prstDash val="solid"/>
          </a:ln>
        </p:spPr>
      </p:sp>
      <p:sp>
        <p:nvSpPr>
          <p:cNvPr id="11" name="">
            <a:extLst xmlns:a="http://schemas.openxmlformats.org/drawingml/2006/main">
              <a:ext uri="{FF2B5EF4-FFF2-40B4-BE49-F238E27FC236}">
                <a16:creationId xmlns:a16="http://schemas.microsoft.com/office/drawing/2014/main" id="{2D7C90B5-7FEF-4D8D-8CCC-058D469B6628}"/>
              </a:ext>
            </a:extLst>
          </p:cNvPr>
          <p:cNvSpPr>
            <a:spLocks xmlns:a="http://schemas.openxmlformats.org/drawingml/2006/main" noGrp="1"/>
          </p:cNvSpPr>
          <p:nvPr/>
        </p:nvSpPr>
        <p:spPr>
          <a:xfrm xmlns:a="http://schemas.openxmlformats.org/drawingml/2006/main">
            <a:off x="5829300" y="2181225"/>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deploy.sh</a:t>
            </a:r>
          </a:p>
        </p:txBody>
      </p:sp>
      <p:sp>
        <p:nvSpPr>
          <p:cNvPr id="12" name="">
            <a:extLst xmlns:a="http://schemas.openxmlformats.org/drawingml/2006/main">
              <a:ext uri="{FF2B5EF4-FFF2-40B4-BE49-F238E27FC236}">
                <a16:creationId xmlns:a16="http://schemas.microsoft.com/office/drawing/2014/main" id="{C8AB0E22-B139-437F-8338-F313F568EF72}"/>
              </a:ext>
            </a:extLst>
          </p:cNvPr>
          <p:cNvSpPr>
            <a:spLocks xmlns:a="http://schemas.openxmlformats.org/drawingml/2006/main" noGrp="1"/>
          </p:cNvSpPr>
          <p:nvPr/>
        </p:nvSpPr>
        <p:spPr>
          <a:xfrm xmlns:a="http://schemas.openxmlformats.org/drawingml/2006/main">
            <a:off x="5810250" y="2505075"/>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copies to Azure</a:t>
            </a:r>
          </a:p>
        </p:txBody>
      </p:sp>
      <p:cxnSp>
        <p:nvCxnSpPr>
          <p:cNvPr id="36" name=""/>
          <p:cNvCxnSpPr>
            <a:stCxn xmlns:a="http://schemas.openxmlformats.org/drawingml/2006/main" id="4" idx="3"/>
            <a:endCxn xmlns:a="http://schemas.openxmlformats.org/drawingml/2006/main" id="7" idx="1"/>
          </p:cNvCxnSpPr>
          <p:nvPr/>
        </p:nvCxnSpPr>
        <p:spPr>
          <a:xfrm xmlns:a="http://schemas.openxmlformats.org/drawingml/2006/main">
            <a:off x="2609850" y="2486025"/>
            <a:ext cx="53340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37" name=""/>
          <p:cNvCxnSpPr>
            <a:stCxn xmlns:a="http://schemas.openxmlformats.org/drawingml/2006/main" id="7" idx="3"/>
            <a:endCxn xmlns:a="http://schemas.openxmlformats.org/drawingml/2006/main" id="10" idx="1"/>
          </p:cNvCxnSpPr>
          <p:nvPr/>
        </p:nvCxnSpPr>
        <p:spPr>
          <a:xfrm xmlns:a="http://schemas.openxmlformats.org/drawingml/2006/main">
            <a:off x="5143500" y="2486025"/>
            <a:ext cx="53340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sp>
        <p:nvSpPr>
          <p:cNvPr id="15" name="">
            <a:extLst xmlns:a="http://schemas.openxmlformats.org/drawingml/2006/main">
              <a:ext uri="{FF2B5EF4-FFF2-40B4-BE49-F238E27FC236}">
                <a16:creationId xmlns:a16="http://schemas.microsoft.com/office/drawing/2014/main" id="{DD0F6A35-F342-4A6D-BE0F-994338720B1B}"/>
              </a:ext>
            </a:extLst>
          </p:cNvPr>
          <p:cNvSpPr>
            <a:spLocks xmlns:a="http://schemas.openxmlformats.org/drawingml/2006/main" noGrp="1"/>
          </p:cNvSpPr>
          <p:nvPr/>
        </p:nvSpPr>
        <p:spPr>
          <a:xfrm xmlns:a="http://schemas.openxmlformats.org/drawingml/2006/main">
            <a:off x="8191500" y="1504950"/>
            <a:ext cx="3238500" cy="3028950"/>
          </a:xfrm>
          <a:prstGeom xmlns:a="http://schemas.openxmlformats.org/drawingml/2006/main" prst="roundRect">
            <a:avLst>
              <a:gd name="adj" fmla="val 5660"/>
            </a:avLst>
          </a:prstGeom>
          <a:solidFill xmlns:a="http://schemas.openxmlformats.org/drawingml/2006/main">
            <a:srgbClr val="FFF0F1"/>
          </a:solidFill>
          <a:ln xmlns:a="http://schemas.openxmlformats.org/drawingml/2006/main" w="19050">
            <a:solidFill>
              <a:srgbClr val="F6B2B8"/>
            </a:solidFill>
            <a:prstDash val="solid"/>
          </a:ln>
        </p:spPr>
      </p:sp>
      <p:sp>
        <p:nvSpPr>
          <p:cNvPr id="16" name="">
            <a:extLst xmlns:a="http://schemas.openxmlformats.org/drawingml/2006/main">
              <a:ext uri="{FF2B5EF4-FFF2-40B4-BE49-F238E27FC236}">
                <a16:creationId xmlns:a16="http://schemas.microsoft.com/office/drawing/2014/main" id="{EADC7F1D-3CCC-403D-8F84-CFD2CE6CEF0E}"/>
              </a:ext>
            </a:extLst>
          </p:cNvPr>
          <p:cNvSpPr>
            <a:spLocks xmlns:a="http://schemas.openxmlformats.org/drawingml/2006/main" noGrp="1"/>
          </p:cNvSpPr>
          <p:nvPr/>
        </p:nvSpPr>
        <p:spPr>
          <a:xfrm xmlns:a="http://schemas.openxmlformats.org/drawingml/2006/main">
            <a:off x="8496300" y="1809750"/>
            <a:ext cx="2628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9B2730"/>
                </a:solidFill>
                <a:latin typeface="Helvetica Neue"/>
                <a:ea typeface="Helvetica Neue"/>
                <a:cs typeface="Helvetica Neue"/>
              </a:defRPr>
            </a:pPr>
            <a:r>
              <a:rPr sz="1650" b="1">
                <a:solidFill>
                  <a:srgbClr val="9B2730"/>
                </a:solidFill>
                <a:latin typeface="Helvetica Neue"/>
                <a:ea typeface="Helvetica Neue"/>
                <a:cs typeface="Helvetica Neue"/>
              </a:rPr>
              <a:t>The weak point</a:t>
            </a:r>
          </a:p>
        </p:txBody>
      </p:sp>
      <p:sp>
        <p:nvSpPr>
          <p:cNvPr id="17" name="">
            <a:extLst xmlns:a="http://schemas.openxmlformats.org/drawingml/2006/main">
              <a:ext uri="{FF2B5EF4-FFF2-40B4-BE49-F238E27FC236}">
                <a16:creationId xmlns:a16="http://schemas.microsoft.com/office/drawing/2014/main" id="{91C352A0-D4D1-40E1-A4AF-70C5B6E3B798}"/>
              </a:ext>
            </a:extLst>
          </p:cNvPr>
          <p:cNvSpPr>
            <a:spLocks xmlns:a="http://schemas.openxmlformats.org/drawingml/2006/main" noGrp="1"/>
          </p:cNvSpPr>
          <p:nvPr/>
        </p:nvSpPr>
        <p:spPr>
          <a:xfrm xmlns:a="http://schemas.openxmlformats.org/drawingml/2006/main">
            <a:off x="8496300" y="2324100"/>
            <a:ext cx="259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a:solidFill>
                  <a:srgbClr val="132238"/>
                </a:solidFill>
                <a:latin typeface="Helvetica Neue"/>
                <a:ea typeface="Helvetica Neue"/>
                <a:cs typeface="Helvetica Neue"/>
              </a:defRPr>
            </a:pPr>
            <a:r>
              <a:rPr sz="1575" b="0">
                <a:solidFill>
                  <a:srgbClr val="132238"/>
                </a:solidFill>
                <a:latin typeface="Helvetica Neue"/>
                <a:ea typeface="Helvetica Neue"/>
                <a:cs typeface="Helvetica Neue"/>
              </a:rPr>
              <a:t>A reviewer can miss a hard-coded password, unsafe Docker setting, or complicated function when the deadline is close.</a:t>
            </a:r>
          </a:p>
        </p:txBody>
      </p:sp>
      <p:sp>
        <p:nvSpPr>
          <p:cNvPr id="18" name="">
            <a:extLst xmlns:a="http://schemas.openxmlformats.org/drawingml/2006/main">
              <a:ext uri="{FF2B5EF4-FFF2-40B4-BE49-F238E27FC236}">
                <a16:creationId xmlns:a16="http://schemas.microsoft.com/office/drawing/2014/main" id="{A5E68896-2D77-4D75-9EC1-028FA6561177}"/>
              </a:ext>
            </a:extLst>
          </p:cNvPr>
          <p:cNvSpPr>
            <a:spLocks xmlns:a="http://schemas.openxmlformats.org/drawingml/2006/main" noGrp="1"/>
          </p:cNvSpPr>
          <p:nvPr/>
        </p:nvSpPr>
        <p:spPr>
          <a:xfrm xmlns:a="http://schemas.openxmlformats.org/drawingml/2006/main">
            <a:off x="8496300" y="3848100"/>
            <a:ext cx="2590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F05D68"/>
                </a:solidFill>
                <a:latin typeface="Helvetica Neue"/>
                <a:ea typeface="Helvetica Neue"/>
                <a:cs typeface="Helvetica Neue"/>
              </a:defRPr>
            </a:pPr>
            <a:r>
              <a:rPr sz="1575" b="1">
                <a:solidFill>
                  <a:srgbClr val="F05D68"/>
                </a:solidFill>
                <a:latin typeface="Helvetica Neue"/>
                <a:ea typeface="Helvetica Neue"/>
                <a:cs typeface="Helvetica Neue"/>
              </a:rPr>
              <a:t>deploy.sh still continues</a:t>
            </a:r>
          </a:p>
        </p:txBody>
      </p:sp>
      <p:sp>
        <p:nvSpPr>
          <p:cNvPr id="19" name="">
            <a:extLst xmlns:a="http://schemas.openxmlformats.org/drawingml/2006/main">
              <a:ext uri="{FF2B5EF4-FFF2-40B4-BE49-F238E27FC236}">
                <a16:creationId xmlns:a16="http://schemas.microsoft.com/office/drawing/2014/main" id="{9A382E3E-3758-4957-B055-87601A51D3BF}"/>
              </a:ext>
            </a:extLst>
          </p:cNvPr>
          <p:cNvSpPr>
            <a:spLocks xmlns:a="http://schemas.openxmlformats.org/drawingml/2006/main" noGrp="1"/>
          </p:cNvSpPr>
          <p:nvPr/>
        </p:nvSpPr>
        <p:spPr>
          <a:xfrm xmlns:a="http://schemas.openxmlformats.org/drawingml/2006/main">
            <a:off x="609600" y="3714750"/>
            <a:ext cx="7067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250" b="1">
                <a:solidFill>
                  <a:srgbClr val="132238"/>
                </a:solidFill>
                <a:latin typeface="Helvetica Neue"/>
                <a:ea typeface="Helvetica Neue"/>
                <a:cs typeface="Helvetica Neue"/>
              </a:defRPr>
            </a:pPr>
            <a:r>
              <a:rPr sz="2250" b="1">
                <a:solidFill>
                  <a:srgbClr val="132238"/>
                </a:solidFill>
                <a:latin typeface="Helvetica Neue"/>
                <a:ea typeface="Helvetica Neue"/>
                <a:cs typeface="Helvetica Neue"/>
              </a:rPr>
              <a:t>The system had no automatic checkpoint between review and Azure.</a:t>
            </a:r>
          </a:p>
        </p:txBody>
      </p:sp>
      <p:sp>
        <p:nvSpPr>
          <p:cNvPr id="20" name="">
            <a:extLst xmlns:a="http://schemas.openxmlformats.org/drawingml/2006/main">
              <a:ext uri="{FF2B5EF4-FFF2-40B4-BE49-F238E27FC236}">
                <a16:creationId xmlns:a16="http://schemas.microsoft.com/office/drawing/2014/main" id="{ED4EB267-CBBB-4F7E-BDDF-A2069E4F83FD}"/>
              </a:ext>
            </a:extLst>
          </p:cNvPr>
          <p:cNvSpPr>
            <a:spLocks xmlns:a="http://schemas.openxmlformats.org/drawingml/2006/main" noGrp="1"/>
          </p:cNvSpPr>
          <p:nvPr/>
        </p:nvSpPr>
        <p:spPr>
          <a:xfrm xmlns:a="http://schemas.openxmlformats.org/drawingml/2006/main">
            <a:off x="609600" y="48958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0C7C70"/>
                </a:solidFill>
                <a:latin typeface="Helvetica Neue"/>
                <a:ea typeface="Helvetica Neue"/>
                <a:cs typeface="Helvetica Neue"/>
              </a:defRPr>
            </a:pPr>
            <a:r>
              <a:rPr sz="1200" b="1">
                <a:solidFill>
                  <a:srgbClr val="0C7C70"/>
                </a:solidFill>
                <a:latin typeface="Helvetica Neue"/>
                <a:ea typeface="Helvetica Neue"/>
                <a:cs typeface="Helvetica Neue"/>
              </a:rPr>
              <a:t>Pain point</a:t>
            </a:r>
          </a:p>
        </p:txBody>
      </p:sp>
      <p:sp>
        <p:nvSpPr>
          <p:cNvPr id="21" name="">
            <a:extLst xmlns:a="http://schemas.openxmlformats.org/drawingml/2006/main">
              <a:ext uri="{FF2B5EF4-FFF2-40B4-BE49-F238E27FC236}">
                <a16:creationId xmlns:a16="http://schemas.microsoft.com/office/drawing/2014/main" id="{19B4ED2D-7A49-4180-8935-6AB26E673056}"/>
              </a:ext>
            </a:extLst>
          </p:cNvPr>
          <p:cNvSpPr>
            <a:spLocks xmlns:a="http://schemas.openxmlformats.org/drawingml/2006/main" noGrp="1"/>
          </p:cNvSpPr>
          <p:nvPr/>
        </p:nvSpPr>
        <p:spPr>
          <a:xfrm xmlns:a="http://schemas.openxmlformats.org/drawingml/2006/main">
            <a:off x="609600" y="5257800"/>
            <a:ext cx="981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526579"/>
                </a:solidFill>
                <a:latin typeface="Helvetica Neue"/>
                <a:ea typeface="Helvetica Neue"/>
                <a:cs typeface="Helvetica Neue"/>
              </a:defRPr>
            </a:pPr>
            <a:r>
              <a:rPr sz="2025" b="0">
                <a:solidFill>
                  <a:srgbClr val="526579"/>
                </a:solidFill>
                <a:latin typeface="Helvetica Neue"/>
                <a:ea typeface="Helvetica Neue"/>
                <a:cs typeface="Helvetica Neue"/>
              </a:rPr>
              <a:t>Code quality depended on one tired person noticing every problem.</a:t>
            </a:r>
          </a:p>
        </p:txBody>
      </p:sp>
      <p:sp>
        <p:nvSpPr>
          <p:cNvPr id="22" name="">
            <a:extLst xmlns:a="http://schemas.openxmlformats.org/drawingml/2006/main">
              <a:ext uri="{FF2B5EF4-FFF2-40B4-BE49-F238E27FC236}">
                <a16:creationId xmlns:a16="http://schemas.microsoft.com/office/drawing/2014/main" id="{8BBEAF35-9C1D-4311-AF84-7215B85C3C9A}"/>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THAR · 1:10</a:t>
            </a:r>
          </a:p>
        </p:txBody>
      </p:sp>
      <p:sp>
        <p:nvSpPr>
          <p:cNvPr id="23" name="">
            <a:extLst xmlns:a="http://schemas.openxmlformats.org/drawingml/2006/main">
              <a:ext uri="{FF2B5EF4-FFF2-40B4-BE49-F238E27FC236}">
                <a16:creationId xmlns:a16="http://schemas.microsoft.com/office/drawing/2014/main" id="{014A8018-BF23-4BFB-BCE6-374D577053E9}"/>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02</a:t>
            </a:r>
          </a:p>
        </p:txBody>
      </p:sp>
    </p:spTree>
    <p:extLst>
      <p:ext uri="{BB962C8B-B14F-4D97-AF65-F5344CB8AC3E}">
        <p14:creationId xmlns:p14="http://schemas.microsoft.com/office/powerpoint/2010/main" val="1216203220"/>
      </p:ext>
    </p:extLst>
  </p:cSld>
</p:sld>
</file>

<file path=ppt/slides/slide3.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78D1024-D006-4BE0-9C35-5F04B346774E}"/>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Evidence from our own course API</a:t>
            </a:r>
          </a:p>
        </p:txBody>
      </p:sp>
      <p:sp>
        <p:nvSpPr>
          <p:cNvPr id="2" name="">
            <a:extLst xmlns:a="http://schemas.openxmlformats.org/drawingml/2006/main">
              <a:ext uri="{FF2B5EF4-FFF2-40B4-BE49-F238E27FC236}">
                <a16:creationId xmlns:a16="http://schemas.microsoft.com/office/drawing/2014/main" id="{C8E1409F-1FEA-45D0-9030-6D67155238E9}"/>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AB04F457-C4C4-4F32-9254-7ED4E75EC04B}"/>
              </a:ext>
            </a:extLst>
          </p:cNvPr>
          <p:cNvSpPr>
            <a:spLocks xmlns:a="http://schemas.openxmlformats.org/drawingml/2006/main" noGrp="1"/>
          </p:cNvSpPr>
          <p:nvPr/>
        </p:nvSpPr>
        <p:spPr>
          <a:xfrm xmlns:a="http://schemas.openxmlformats.org/drawingml/2006/main">
            <a:off x="666750" y="158115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600" b="1">
                <a:solidFill>
                  <a:srgbClr val="20C7B0"/>
                </a:solidFill>
                <a:latin typeface="Helvetica Neue"/>
                <a:ea typeface="Helvetica Neue"/>
                <a:cs typeface="Helvetica Neue"/>
              </a:defRPr>
            </a:pPr>
            <a:r>
              <a:rPr sz="6600" b="1">
                <a:solidFill>
                  <a:srgbClr val="20C7B0"/>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6D8661FE-812D-48A2-9C0C-399B861F6545}"/>
              </a:ext>
            </a:extLst>
          </p:cNvPr>
          <p:cNvSpPr>
            <a:spLocks xmlns:a="http://schemas.openxmlformats.org/drawingml/2006/main" noGrp="1"/>
          </p:cNvSpPr>
          <p:nvPr/>
        </p:nvSpPr>
        <p:spPr>
          <a:xfrm xmlns:a="http://schemas.openxmlformats.org/drawingml/2006/main">
            <a:off x="704850" y="26479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issues found in the</a:t>
            </a:r>
          </a:p>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first scan</a:t>
            </a:r>
          </a:p>
        </p:txBody>
      </p:sp>
      <p:sp>
        <p:nvSpPr>
          <p:cNvPr id="5" name="">
            <a:extLst xmlns:a="http://schemas.openxmlformats.org/drawingml/2006/main">
              <a:ext uri="{FF2B5EF4-FFF2-40B4-BE49-F238E27FC236}">
                <a16:creationId xmlns:a16="http://schemas.microsoft.com/office/drawing/2014/main" id="{D66A5FFB-4974-4D45-86C3-0DA7B21FC154}"/>
              </a:ext>
            </a:extLst>
          </p:cNvPr>
          <p:cNvSpPr>
            <a:spLocks xmlns:a="http://schemas.openxmlformats.org/drawingml/2006/main" noGrp="1"/>
          </p:cNvSpPr>
          <p:nvPr/>
        </p:nvSpPr>
        <p:spPr>
          <a:xfrm xmlns:a="http://schemas.openxmlformats.org/drawingml/2006/main">
            <a:off x="3714750" y="1676400"/>
            <a:ext cx="19050" cy="1809750"/>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6" name="">
            <a:extLst xmlns:a="http://schemas.openxmlformats.org/drawingml/2006/main">
              <a:ext uri="{FF2B5EF4-FFF2-40B4-BE49-F238E27FC236}">
                <a16:creationId xmlns:a16="http://schemas.microsoft.com/office/drawing/2014/main" id="{B5AE669E-4EA5-49EF-B825-8F8F8F50F407}"/>
              </a:ext>
            </a:extLst>
          </p:cNvPr>
          <p:cNvSpPr>
            <a:spLocks xmlns:a="http://schemas.openxmlformats.org/drawingml/2006/main" noGrp="1"/>
          </p:cNvSpPr>
          <p:nvPr/>
        </p:nvSpPr>
        <p:spPr>
          <a:xfrm xmlns:a="http://schemas.openxmlformats.org/drawingml/2006/main">
            <a:off x="4210050" y="1581150"/>
            <a:ext cx="209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600" b="1">
                <a:solidFill>
                  <a:srgbClr val="F4B740"/>
                </a:solidFill>
                <a:latin typeface="Helvetica Neue"/>
                <a:ea typeface="Helvetica Neue"/>
                <a:cs typeface="Helvetica Neue"/>
              </a:defRPr>
            </a:pPr>
            <a:r>
              <a:rPr sz="6600" b="1">
                <a:solidFill>
                  <a:srgbClr val="F4B740"/>
                </a:solidFill>
                <a:latin typeface="Helvetica Neue"/>
                <a:ea typeface="Helvetica Neue"/>
                <a:cs typeface="Helvetica Neue"/>
              </a:rPr>
              <a:t>D</a:t>
            </a:r>
          </a:p>
        </p:txBody>
      </p:sp>
      <p:sp>
        <p:nvSpPr>
          <p:cNvPr id="7" name="">
            <a:extLst xmlns:a="http://schemas.openxmlformats.org/drawingml/2006/main">
              <a:ext uri="{FF2B5EF4-FFF2-40B4-BE49-F238E27FC236}">
                <a16:creationId xmlns:a16="http://schemas.microsoft.com/office/drawing/2014/main" id="{6E6E3A82-26EE-4C53-B5B1-F896600D2CC6}"/>
              </a:ext>
            </a:extLst>
          </p:cNvPr>
          <p:cNvSpPr>
            <a:spLocks xmlns:a="http://schemas.openxmlformats.org/drawingml/2006/main" noGrp="1"/>
          </p:cNvSpPr>
          <p:nvPr/>
        </p:nvSpPr>
        <p:spPr>
          <a:xfrm xmlns:a="http://schemas.openxmlformats.org/drawingml/2006/main">
            <a:off x="4248150" y="26479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security rating before</a:t>
            </a:r>
          </a:p>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we fixed the baseline</a:t>
            </a:r>
          </a:p>
        </p:txBody>
      </p:sp>
      <p:sp>
        <p:nvSpPr>
          <p:cNvPr id="8" name="">
            <a:extLst xmlns:a="http://schemas.openxmlformats.org/drawingml/2006/main">
              <a:ext uri="{FF2B5EF4-FFF2-40B4-BE49-F238E27FC236}">
                <a16:creationId xmlns:a16="http://schemas.microsoft.com/office/drawing/2014/main" id="{0B6436DA-6915-4EEB-9988-E39203692395}"/>
              </a:ext>
            </a:extLst>
          </p:cNvPr>
          <p:cNvSpPr>
            <a:spLocks xmlns:a="http://schemas.openxmlformats.org/drawingml/2006/main" noGrp="1"/>
          </p:cNvSpPr>
          <p:nvPr/>
        </p:nvSpPr>
        <p:spPr>
          <a:xfrm xmlns:a="http://schemas.openxmlformats.org/drawingml/2006/main">
            <a:off x="7353300" y="1676400"/>
            <a:ext cx="19050" cy="1809750"/>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9" name="">
            <a:extLst xmlns:a="http://schemas.openxmlformats.org/drawingml/2006/main">
              <a:ext uri="{FF2B5EF4-FFF2-40B4-BE49-F238E27FC236}">
                <a16:creationId xmlns:a16="http://schemas.microsoft.com/office/drawing/2014/main" id="{6E516BB0-063C-4E7F-A831-C8D563809865}"/>
              </a:ext>
            </a:extLst>
          </p:cNvPr>
          <p:cNvSpPr>
            <a:spLocks xmlns:a="http://schemas.openxmlformats.org/drawingml/2006/main" noGrp="1"/>
          </p:cNvSpPr>
          <p:nvPr/>
        </p:nvSpPr>
        <p:spPr>
          <a:xfrm xmlns:a="http://schemas.openxmlformats.org/drawingml/2006/main">
            <a:off x="7867650" y="1581150"/>
            <a:ext cx="190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600" b="1">
                <a:solidFill>
                  <a:srgbClr val="F05D68"/>
                </a:solidFill>
                <a:latin typeface="Helvetica Neue"/>
                <a:ea typeface="Helvetica Neue"/>
                <a:cs typeface="Helvetica Neue"/>
              </a:defRPr>
            </a:pPr>
            <a:r>
              <a:rPr sz="6600" b="1">
                <a:solidFill>
                  <a:srgbClr val="F05D68"/>
                </a:solidFill>
                <a:latin typeface="Helvetica Neue"/>
                <a:ea typeface="Helvetica Neue"/>
                <a:cs typeface="Helvetica Neue"/>
              </a:rPr>
              <a:t>3</a:t>
            </a:r>
          </a:p>
        </p:txBody>
      </p:sp>
      <p:sp>
        <p:nvSpPr>
          <p:cNvPr id="10" name="">
            <a:extLst xmlns:a="http://schemas.openxmlformats.org/drawingml/2006/main">
              <a:ext uri="{FF2B5EF4-FFF2-40B4-BE49-F238E27FC236}">
                <a16:creationId xmlns:a16="http://schemas.microsoft.com/office/drawing/2014/main" id="{FD1717BF-2A44-499E-B161-A7EFFC835128}"/>
              </a:ext>
            </a:extLst>
          </p:cNvPr>
          <p:cNvSpPr>
            <a:spLocks xmlns:a="http://schemas.openxmlformats.org/drawingml/2006/main" noGrp="1"/>
          </p:cNvSpPr>
          <p:nvPr/>
        </p:nvSpPr>
        <p:spPr>
          <a:xfrm xmlns:a="http://schemas.openxmlformats.org/drawingml/2006/main">
            <a:off x="7905750" y="26479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live secrets stored in a</a:t>
            </a:r>
          </a:p>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Docker Compose file</a:t>
            </a:r>
          </a:p>
        </p:txBody>
      </p:sp>
      <p:sp>
        <p:nvSpPr>
          <p:cNvPr id="11" name="">
            <a:extLst xmlns:a="http://schemas.openxmlformats.org/drawingml/2006/main">
              <a:ext uri="{FF2B5EF4-FFF2-40B4-BE49-F238E27FC236}">
                <a16:creationId xmlns:a16="http://schemas.microsoft.com/office/drawing/2014/main" id="{1788B98C-B960-4C75-901E-F99210CFEBD3}"/>
              </a:ext>
            </a:extLst>
          </p:cNvPr>
          <p:cNvSpPr>
            <a:spLocks xmlns:a="http://schemas.openxmlformats.org/drawingml/2006/main" noGrp="1"/>
          </p:cNvSpPr>
          <p:nvPr/>
        </p:nvSpPr>
        <p:spPr>
          <a:xfrm xmlns:a="http://schemas.openxmlformats.org/drawingml/2006/main">
            <a:off x="666750" y="4000500"/>
            <a:ext cx="10382250" cy="19050"/>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12" name="">
            <a:extLst xmlns:a="http://schemas.openxmlformats.org/drawingml/2006/main">
              <a:ext uri="{FF2B5EF4-FFF2-40B4-BE49-F238E27FC236}">
                <a16:creationId xmlns:a16="http://schemas.microsoft.com/office/drawing/2014/main" id="{A0A6ACFB-52A7-4E5D-A09E-CA9E80CB53F7}"/>
              </a:ext>
            </a:extLst>
          </p:cNvPr>
          <p:cNvSpPr>
            <a:spLocks xmlns:a="http://schemas.openxmlformats.org/drawingml/2006/main" noGrp="1"/>
          </p:cNvSpPr>
          <p:nvPr/>
        </p:nvSpPr>
        <p:spPr>
          <a:xfrm xmlns:a="http://schemas.openxmlformats.org/drawingml/2006/main">
            <a:off x="666750" y="4362450"/>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The scan caught unrestricted CORS, a container running as root, recursive Docker copying, and swallowed errors.</a:t>
            </a:r>
          </a:p>
        </p:txBody>
      </p:sp>
      <p:sp>
        <p:nvSpPr>
          <p:cNvPr id="13" name="">
            <a:extLst xmlns:a="http://schemas.openxmlformats.org/drawingml/2006/main">
              <a:ext uri="{FF2B5EF4-FFF2-40B4-BE49-F238E27FC236}">
                <a16:creationId xmlns:a16="http://schemas.microsoft.com/office/drawing/2014/main" id="{CE395F0A-E777-4DB9-A6DA-855543D8E355}"/>
              </a:ext>
            </a:extLst>
          </p:cNvPr>
          <p:cNvSpPr>
            <a:spLocks xmlns:a="http://schemas.openxmlformats.org/drawingml/2006/main" noGrp="1"/>
          </p:cNvSpPr>
          <p:nvPr/>
        </p:nvSpPr>
        <p:spPr>
          <a:xfrm xmlns:a="http://schemas.openxmlformats.org/drawingml/2006/main">
            <a:off x="666750" y="525780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F4B740"/>
                </a:solidFill>
                <a:latin typeface="Helvetica Neue"/>
                <a:ea typeface="Helvetica Neue"/>
                <a:cs typeface="Helvetica Neue"/>
              </a:defRPr>
            </a:pPr>
            <a:r>
              <a:rPr sz="1725" b="1">
                <a:solidFill>
                  <a:srgbClr val="F4B740"/>
                </a:solidFill>
                <a:latin typeface="Helvetica Neue"/>
                <a:ea typeface="Helvetica Neue"/>
                <a:cs typeface="Helvetica Neue"/>
              </a:rPr>
              <a:t>Our manual audit also found the Azure client secret, database password, and JWT secret in plaintext.</a:t>
            </a:r>
          </a:p>
        </p:txBody>
      </p:sp>
      <p:sp>
        <p:nvSpPr>
          <p:cNvPr id="14" name="">
            <a:extLst xmlns:a="http://schemas.openxmlformats.org/drawingml/2006/main">
              <a:ext uri="{FF2B5EF4-FFF2-40B4-BE49-F238E27FC236}">
                <a16:creationId xmlns:a16="http://schemas.microsoft.com/office/drawing/2014/main" id="{3A44B530-DB34-4099-AE72-2CC97BBA8755}"/>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THAR · 1:15</a:t>
            </a:r>
          </a:p>
        </p:txBody>
      </p:sp>
      <p:sp>
        <p:nvSpPr>
          <p:cNvPr id="15" name="">
            <a:extLst xmlns:a="http://schemas.openxmlformats.org/drawingml/2006/main">
              <a:ext uri="{FF2B5EF4-FFF2-40B4-BE49-F238E27FC236}">
                <a16:creationId xmlns:a16="http://schemas.microsoft.com/office/drawing/2014/main" id="{1DB6FB39-8827-46B0-9A86-CD7BA55C5910}"/>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03</a:t>
            </a:r>
          </a:p>
        </p:txBody>
      </p:sp>
    </p:spTree>
    <p:extLst>
      <p:ext uri="{BB962C8B-B14F-4D97-AF65-F5344CB8AC3E}">
        <p14:creationId xmlns:p14="http://schemas.microsoft.com/office/powerpoint/2010/main" val="173156812"/>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7569F87-C518-4D61-83B2-A0412244DF74}"/>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132238"/>
                </a:solidFill>
                <a:latin typeface="Helvetica Neue"/>
                <a:ea typeface="Helvetica Neue"/>
                <a:cs typeface="Helvetica Neue"/>
              </a:defRPr>
            </a:pPr>
            <a:r>
              <a:rPr sz="2775" b="1">
                <a:solidFill>
                  <a:srgbClr val="132238"/>
                </a:solidFill>
                <a:latin typeface="Helvetica Neue"/>
                <a:ea typeface="Helvetica Neue"/>
                <a:cs typeface="Helvetica Neue"/>
              </a:rPr>
              <a:t>Technology of interest: SonarQube</a:t>
            </a:r>
          </a:p>
        </p:txBody>
      </p:sp>
      <p:sp>
        <p:nvSpPr>
          <p:cNvPr id="2" name="">
            <a:extLst xmlns:a="http://schemas.openxmlformats.org/drawingml/2006/main">
              <a:ext uri="{FF2B5EF4-FFF2-40B4-BE49-F238E27FC236}">
                <a16:creationId xmlns:a16="http://schemas.microsoft.com/office/drawing/2014/main" id="{8A8AB3BF-1295-4A91-9995-C2C0FEA69BBC}"/>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0A1D4AF0-4815-4222-A3D8-4E30DCE382F0}"/>
              </a:ext>
            </a:extLst>
          </p:cNvPr>
          <p:cNvSpPr>
            <a:spLocks xmlns:a="http://schemas.openxmlformats.org/drawingml/2006/main" noGrp="1"/>
          </p:cNvSpPr>
          <p:nvPr/>
        </p:nvSpPr>
        <p:spPr>
          <a:xfrm xmlns:a="http://schemas.openxmlformats.org/drawingml/2006/main">
            <a:off x="609600" y="1428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132238"/>
                </a:solidFill>
                <a:latin typeface="Helvetica Neue"/>
                <a:ea typeface="Helvetica Neue"/>
                <a:cs typeface="Helvetica Neue"/>
              </a:defRPr>
            </a:pPr>
            <a:r>
              <a:rPr sz="1950" b="0">
                <a:solidFill>
                  <a:srgbClr val="132238"/>
                </a:solidFill>
                <a:latin typeface="Helvetica Neue"/>
                <a:ea typeface="Helvetica Neue"/>
                <a:cs typeface="Helvetica Neue"/>
              </a:rPr>
              <a:t>SonarQube performs static analysis. It reads source code without running the application and reports known risky patterns.</a:t>
            </a:r>
          </a:p>
        </p:txBody>
      </p:sp>
      <p:sp>
        <p:nvSpPr>
          <p:cNvPr id="4" name="">
            <a:extLst xmlns:a="http://schemas.openxmlformats.org/drawingml/2006/main">
              <a:ext uri="{FF2B5EF4-FFF2-40B4-BE49-F238E27FC236}">
                <a16:creationId xmlns:a16="http://schemas.microsoft.com/office/drawing/2014/main" id="{3E78979A-7191-4743-9B69-40166F92FF7E}"/>
              </a:ext>
            </a:extLst>
          </p:cNvPr>
          <p:cNvSpPr>
            <a:spLocks xmlns:a="http://schemas.openxmlformats.org/drawingml/2006/main" noGrp="1"/>
          </p:cNvSpPr>
          <p:nvPr/>
        </p:nvSpPr>
        <p:spPr>
          <a:xfrm xmlns:a="http://schemas.openxmlformats.org/drawingml/2006/main">
            <a:off x="914400" y="2705100"/>
            <a:ext cx="2476500" cy="895350"/>
          </a:xfrm>
          <a:prstGeom xmlns:a="http://schemas.openxmlformats.org/drawingml/2006/main" prst="roundRect">
            <a:avLst>
              <a:gd name="adj" fmla="val 14894"/>
            </a:avLst>
          </a:prstGeom>
          <a:solidFill xmlns:a="http://schemas.openxmlformats.org/drawingml/2006/main">
            <a:srgbClr val="E9FBF8"/>
          </a:solidFill>
          <a:ln xmlns:a="http://schemas.openxmlformats.org/drawingml/2006/main" w="19050">
            <a:solidFill>
              <a:srgbClr val="20C7B0"/>
            </a:solidFill>
            <a:prstDash val="solid"/>
          </a:ln>
        </p:spPr>
      </p:sp>
      <p:sp>
        <p:nvSpPr>
          <p:cNvPr id="5" name="">
            <a:extLst xmlns:a="http://schemas.openxmlformats.org/drawingml/2006/main">
              <a:ext uri="{FF2B5EF4-FFF2-40B4-BE49-F238E27FC236}">
                <a16:creationId xmlns:a16="http://schemas.microsoft.com/office/drawing/2014/main" id="{E9465706-F22D-4F1C-8EC4-3776BBC138B5}"/>
              </a:ext>
            </a:extLst>
          </p:cNvPr>
          <p:cNvSpPr>
            <a:spLocks xmlns:a="http://schemas.openxmlformats.org/drawingml/2006/main" noGrp="1"/>
          </p:cNvSpPr>
          <p:nvPr/>
        </p:nvSpPr>
        <p:spPr>
          <a:xfrm xmlns:a="http://schemas.openxmlformats.org/drawingml/2006/main">
            <a:off x="1066800" y="2847975"/>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SCAN</a:t>
            </a:r>
          </a:p>
        </p:txBody>
      </p:sp>
      <p:sp>
        <p:nvSpPr>
          <p:cNvPr id="6" name="">
            <a:extLst xmlns:a="http://schemas.openxmlformats.org/drawingml/2006/main">
              <a:ext uri="{FF2B5EF4-FFF2-40B4-BE49-F238E27FC236}">
                <a16:creationId xmlns:a16="http://schemas.microsoft.com/office/drawing/2014/main" id="{FFFC8122-18BB-4694-A49C-E5984150AD7C}"/>
              </a:ext>
            </a:extLst>
          </p:cNvPr>
          <p:cNvSpPr>
            <a:spLocks xmlns:a="http://schemas.openxmlformats.org/drawingml/2006/main" noGrp="1"/>
          </p:cNvSpPr>
          <p:nvPr/>
        </p:nvSpPr>
        <p:spPr>
          <a:xfrm xmlns:a="http://schemas.openxmlformats.org/drawingml/2006/main">
            <a:off x="1047750" y="3171825"/>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source and configuration</a:t>
            </a:r>
          </a:p>
        </p:txBody>
      </p:sp>
      <p:sp>
        <p:nvSpPr>
          <p:cNvPr id="7" name="">
            <a:extLst xmlns:a="http://schemas.openxmlformats.org/drawingml/2006/main">
              <a:ext uri="{FF2B5EF4-FFF2-40B4-BE49-F238E27FC236}">
                <a16:creationId xmlns:a16="http://schemas.microsoft.com/office/drawing/2014/main" id="{4C763B70-E0B5-43D1-8237-0C15CB7C255D}"/>
              </a:ext>
            </a:extLst>
          </p:cNvPr>
          <p:cNvSpPr>
            <a:spLocks xmlns:a="http://schemas.openxmlformats.org/drawingml/2006/main" noGrp="1"/>
          </p:cNvSpPr>
          <p:nvPr/>
        </p:nvSpPr>
        <p:spPr>
          <a:xfrm xmlns:a="http://schemas.openxmlformats.org/drawingml/2006/main">
            <a:off x="4857750" y="2705100"/>
            <a:ext cx="2476500" cy="895350"/>
          </a:xfrm>
          <a:prstGeom xmlns:a="http://schemas.openxmlformats.org/drawingml/2006/main" prst="roundRect">
            <a:avLst>
              <a:gd name="adj" fmla="val 14894"/>
            </a:avLst>
          </a:prstGeom>
          <a:solidFill xmlns:a="http://schemas.openxmlformats.org/drawingml/2006/main">
            <a:srgbClr val="EDF5FC"/>
          </a:solidFill>
          <a:ln xmlns:a="http://schemas.openxmlformats.org/drawingml/2006/main" w="19050">
            <a:solidFill>
              <a:srgbClr val="4D9DE0"/>
            </a:solidFill>
            <a:prstDash val="solid"/>
          </a:ln>
        </p:spPr>
      </p:sp>
      <p:sp>
        <p:nvSpPr>
          <p:cNvPr id="8" name="">
            <a:extLst xmlns:a="http://schemas.openxmlformats.org/drawingml/2006/main">
              <a:ext uri="{FF2B5EF4-FFF2-40B4-BE49-F238E27FC236}">
                <a16:creationId xmlns:a16="http://schemas.microsoft.com/office/drawing/2014/main" id="{06AC821A-9D40-4139-866D-87F52794149A}"/>
              </a:ext>
            </a:extLst>
          </p:cNvPr>
          <p:cNvSpPr>
            <a:spLocks xmlns:a="http://schemas.openxmlformats.org/drawingml/2006/main" noGrp="1"/>
          </p:cNvSpPr>
          <p:nvPr/>
        </p:nvSpPr>
        <p:spPr>
          <a:xfrm xmlns:a="http://schemas.openxmlformats.org/drawingml/2006/main">
            <a:off x="5010150" y="2847975"/>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RATE</a:t>
            </a:r>
          </a:p>
        </p:txBody>
      </p:sp>
      <p:sp>
        <p:nvSpPr>
          <p:cNvPr id="9" name="">
            <a:extLst xmlns:a="http://schemas.openxmlformats.org/drawingml/2006/main">
              <a:ext uri="{FF2B5EF4-FFF2-40B4-BE49-F238E27FC236}">
                <a16:creationId xmlns:a16="http://schemas.microsoft.com/office/drawing/2014/main" id="{8B331380-01C2-4DAF-AFB5-BF05162D76B1}"/>
              </a:ext>
            </a:extLst>
          </p:cNvPr>
          <p:cNvSpPr>
            <a:spLocks xmlns:a="http://schemas.openxmlformats.org/drawingml/2006/main" noGrp="1"/>
          </p:cNvSpPr>
          <p:nvPr/>
        </p:nvSpPr>
        <p:spPr>
          <a:xfrm xmlns:a="http://schemas.openxmlformats.org/drawingml/2006/main">
            <a:off x="4991100" y="3171825"/>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security and reliability</a:t>
            </a:r>
          </a:p>
        </p:txBody>
      </p:sp>
      <p:sp>
        <p:nvSpPr>
          <p:cNvPr id="10" name="">
            <a:extLst xmlns:a="http://schemas.openxmlformats.org/drawingml/2006/main">
              <a:ext uri="{FF2B5EF4-FFF2-40B4-BE49-F238E27FC236}">
                <a16:creationId xmlns:a16="http://schemas.microsoft.com/office/drawing/2014/main" id="{4B395D74-3B31-461A-9167-5B2D5F3753D0}"/>
              </a:ext>
            </a:extLst>
          </p:cNvPr>
          <p:cNvSpPr>
            <a:spLocks xmlns:a="http://schemas.openxmlformats.org/drawingml/2006/main" noGrp="1"/>
          </p:cNvSpPr>
          <p:nvPr/>
        </p:nvSpPr>
        <p:spPr>
          <a:xfrm xmlns:a="http://schemas.openxmlformats.org/drawingml/2006/main">
            <a:off x="8801100" y="2705100"/>
            <a:ext cx="2476500" cy="895350"/>
          </a:xfrm>
          <a:prstGeom xmlns:a="http://schemas.openxmlformats.org/drawingml/2006/main" prst="roundRect">
            <a:avLst>
              <a:gd name="adj" fmla="val 14894"/>
            </a:avLst>
          </a:prstGeom>
          <a:solidFill xmlns:a="http://schemas.openxmlformats.org/drawingml/2006/main">
            <a:srgbClr val="FFF5DF"/>
          </a:solidFill>
          <a:ln xmlns:a="http://schemas.openxmlformats.org/drawingml/2006/main" w="19050">
            <a:solidFill>
              <a:srgbClr val="F4B740"/>
            </a:solidFill>
            <a:prstDash val="solid"/>
          </a:ln>
        </p:spPr>
      </p:sp>
      <p:sp>
        <p:nvSpPr>
          <p:cNvPr id="11" name="">
            <a:extLst xmlns:a="http://schemas.openxmlformats.org/drawingml/2006/main">
              <a:ext uri="{FF2B5EF4-FFF2-40B4-BE49-F238E27FC236}">
                <a16:creationId xmlns:a16="http://schemas.microsoft.com/office/drawing/2014/main" id="{22A33DFD-842C-4EDF-806A-F28D03610833}"/>
              </a:ext>
            </a:extLst>
          </p:cNvPr>
          <p:cNvSpPr>
            <a:spLocks xmlns:a="http://schemas.openxmlformats.org/drawingml/2006/main" noGrp="1"/>
          </p:cNvSpPr>
          <p:nvPr/>
        </p:nvSpPr>
        <p:spPr>
          <a:xfrm xmlns:a="http://schemas.openxmlformats.org/drawingml/2006/main">
            <a:off x="8953500" y="2847975"/>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DECIDE</a:t>
            </a:r>
          </a:p>
        </p:txBody>
      </p:sp>
      <p:sp>
        <p:nvSpPr>
          <p:cNvPr id="12" name="">
            <a:extLst xmlns:a="http://schemas.openxmlformats.org/drawingml/2006/main">
              <a:ext uri="{FF2B5EF4-FFF2-40B4-BE49-F238E27FC236}">
                <a16:creationId xmlns:a16="http://schemas.microsoft.com/office/drawing/2014/main" id="{16F67117-DB36-40A1-9F4C-59293DEFEB64}"/>
              </a:ext>
            </a:extLst>
          </p:cNvPr>
          <p:cNvSpPr>
            <a:spLocks xmlns:a="http://schemas.openxmlformats.org/drawingml/2006/main" noGrp="1"/>
          </p:cNvSpPr>
          <p:nvPr/>
        </p:nvSpPr>
        <p:spPr>
          <a:xfrm xmlns:a="http://schemas.openxmlformats.org/drawingml/2006/main">
            <a:off x="8934450" y="3171825"/>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pass or fail the gate</a:t>
            </a:r>
          </a:p>
        </p:txBody>
      </p:sp>
      <p:cxnSp>
        <p:nvCxnSpPr>
          <p:cNvPr id="31" name=""/>
          <p:cNvCxnSpPr>
            <a:stCxn xmlns:a="http://schemas.openxmlformats.org/drawingml/2006/main" id="4" idx="3"/>
            <a:endCxn xmlns:a="http://schemas.openxmlformats.org/drawingml/2006/main" id="7" idx="1"/>
          </p:cNvCxnSpPr>
          <p:nvPr/>
        </p:nvCxnSpPr>
        <p:spPr>
          <a:xfrm xmlns:a="http://schemas.openxmlformats.org/drawingml/2006/main">
            <a:off x="3390900" y="3152775"/>
            <a:ext cx="1466850" cy="0"/>
          </a:xfrm>
          <a:prstGeom xmlns:a="http://schemas.openxmlformats.org/drawingml/2006/main" prst="straightConnector1">
            <a:avLst/>
          </a:prstGeom>
          <a:ln xmlns:a="http://schemas.openxmlformats.org/drawingml/2006/main" w="28575">
            <a:solidFill>
              <a:srgbClr val="526579"/>
            </a:solidFill>
            <a:prstDash val="solid"/>
            <a:tailEnd type="triangle" w="med" len="med"/>
          </a:ln>
        </p:spPr>
      </p:cxnSp>
      <p:cxnSp>
        <p:nvCxnSpPr>
          <p:cNvPr id="32" name=""/>
          <p:cNvCxnSpPr>
            <a:stCxn xmlns:a="http://schemas.openxmlformats.org/drawingml/2006/main" id="7" idx="3"/>
            <a:endCxn xmlns:a="http://schemas.openxmlformats.org/drawingml/2006/main" id="10" idx="1"/>
          </p:cNvCxnSpPr>
          <p:nvPr/>
        </p:nvCxnSpPr>
        <p:spPr>
          <a:xfrm xmlns:a="http://schemas.openxmlformats.org/drawingml/2006/main">
            <a:off x="7334250" y="3152775"/>
            <a:ext cx="1466850" cy="0"/>
          </a:xfrm>
          <a:prstGeom xmlns:a="http://schemas.openxmlformats.org/drawingml/2006/main" prst="straightConnector1">
            <a:avLst/>
          </a:prstGeom>
          <a:ln xmlns:a="http://schemas.openxmlformats.org/drawingml/2006/main" w="28575">
            <a:solidFill>
              <a:srgbClr val="526579"/>
            </a:solidFill>
            <a:prstDash val="solid"/>
            <a:tailEnd type="triangle" w="med" len="med"/>
          </a:ln>
        </p:spPr>
      </p:cxnSp>
      <p:sp>
        <p:nvSpPr>
          <p:cNvPr id="15" name="">
            <a:extLst xmlns:a="http://schemas.openxmlformats.org/drawingml/2006/main">
              <a:ext uri="{FF2B5EF4-FFF2-40B4-BE49-F238E27FC236}">
                <a16:creationId xmlns:a16="http://schemas.microsoft.com/office/drawing/2014/main" id="{38B36D0B-4ADD-4DFC-902B-5A6008A3A4C9}"/>
              </a:ext>
            </a:extLst>
          </p:cNvPr>
          <p:cNvSpPr>
            <a:spLocks xmlns:a="http://schemas.openxmlformats.org/drawingml/2006/main" noGrp="1"/>
          </p:cNvSpPr>
          <p:nvPr/>
        </p:nvSpPr>
        <p:spPr>
          <a:xfrm xmlns:a="http://schemas.openxmlformats.org/drawingml/2006/main">
            <a:off x="609600" y="438150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32238"/>
                </a:solidFill>
                <a:latin typeface="Helvetica Neue"/>
                <a:ea typeface="Helvetica Neue"/>
                <a:cs typeface="Helvetica Neue"/>
              </a:defRPr>
            </a:pPr>
            <a:r>
              <a:rPr sz="2325" b="1">
                <a:solidFill>
                  <a:srgbClr val="132238"/>
                </a:solidFill>
                <a:latin typeface="Helvetica Neue"/>
                <a:ea typeface="Helvetica Neue"/>
                <a:cs typeface="Helvetica Neue"/>
              </a:rPr>
              <a:t>The quality gate owns the exit code</a:t>
            </a:r>
          </a:p>
        </p:txBody>
      </p:sp>
      <p:sp>
        <p:nvSpPr>
          <p:cNvPr id="16" name="">
            <a:extLst xmlns:a="http://schemas.openxmlformats.org/drawingml/2006/main">
              <a:ext uri="{FF2B5EF4-FFF2-40B4-BE49-F238E27FC236}">
                <a16:creationId xmlns:a16="http://schemas.microsoft.com/office/drawing/2014/main" id="{31B05C19-D735-449E-99D0-8A92851EF3AB}"/>
              </a:ext>
            </a:extLst>
          </p:cNvPr>
          <p:cNvSpPr>
            <a:spLocks xmlns:a="http://schemas.openxmlformats.org/drawingml/2006/main" noGrp="1"/>
          </p:cNvSpPr>
          <p:nvPr/>
        </p:nvSpPr>
        <p:spPr>
          <a:xfrm xmlns:a="http://schemas.openxmlformats.org/drawingml/2006/main">
            <a:off x="609600" y="4972050"/>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26579"/>
                </a:solidFill>
                <a:latin typeface="Helvetica Neue"/>
                <a:ea typeface="Helvetica Neue"/>
                <a:cs typeface="Helvetica Neue"/>
              </a:defRPr>
            </a:pPr>
            <a:r>
              <a:rPr sz="1875" b="0">
                <a:solidFill>
                  <a:srgbClr val="526579"/>
                </a:solidFill>
                <a:latin typeface="Helvetica Neue"/>
                <a:ea typeface="Helvetica Neue"/>
                <a:cs typeface="Helvetica Neue"/>
              </a:rPr>
              <a:t>Exit 0 lets deploy.sh continue. Exit 1 stops the script before scp uploads anything.</a:t>
            </a:r>
          </a:p>
        </p:txBody>
      </p:sp>
      <p:sp>
        <p:nvSpPr>
          <p:cNvPr id="17" name="">
            <a:extLst xmlns:a="http://schemas.openxmlformats.org/drawingml/2006/main">
              <a:ext uri="{FF2B5EF4-FFF2-40B4-BE49-F238E27FC236}">
                <a16:creationId xmlns:a16="http://schemas.microsoft.com/office/drawing/2014/main" id="{C78321EF-B481-4630-9F83-3EAB1F9476BF}"/>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HONEY · 1:00</a:t>
            </a:r>
          </a:p>
        </p:txBody>
      </p:sp>
      <p:sp>
        <p:nvSpPr>
          <p:cNvPr id="18" name="">
            <a:extLst xmlns:a="http://schemas.openxmlformats.org/drawingml/2006/main">
              <a:ext uri="{FF2B5EF4-FFF2-40B4-BE49-F238E27FC236}">
                <a16:creationId xmlns:a16="http://schemas.microsoft.com/office/drawing/2014/main" id="{401BF153-67BD-4F99-A756-798600663D79}"/>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04</a:t>
            </a:r>
          </a:p>
        </p:txBody>
      </p:sp>
    </p:spTree>
    <p:extLst>
      <p:ext uri="{BB962C8B-B14F-4D97-AF65-F5344CB8AC3E}">
        <p14:creationId xmlns:p14="http://schemas.microsoft.com/office/powerpoint/2010/main" val="709809616"/>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0892887-6BCE-4AEC-963D-B63AD34E0548}"/>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132238"/>
                </a:solidFill>
                <a:latin typeface="Helvetica Neue"/>
                <a:ea typeface="Helvetica Neue"/>
                <a:cs typeface="Helvetica Neue"/>
              </a:defRPr>
            </a:pPr>
            <a:r>
              <a:rPr sz="2775" b="1">
                <a:solidFill>
                  <a:srgbClr val="132238"/>
                </a:solidFill>
                <a:latin typeface="Helvetica Neue"/>
                <a:ea typeface="Helvetica Neue"/>
                <a:cs typeface="Helvetica Neue"/>
              </a:rPr>
              <a:t>Implementation architecture</a:t>
            </a:r>
          </a:p>
        </p:txBody>
      </p:sp>
      <p:sp>
        <p:nvSpPr>
          <p:cNvPr id="2" name="">
            <a:extLst xmlns:a="http://schemas.openxmlformats.org/drawingml/2006/main">
              <a:ext uri="{FF2B5EF4-FFF2-40B4-BE49-F238E27FC236}">
                <a16:creationId xmlns:a16="http://schemas.microsoft.com/office/drawing/2014/main" id="{97F7D259-E1E2-4C67-9F3D-756D9DC9418A}"/>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D251BDBE-9C3D-40F3-8BD6-90FE4773F32F}"/>
              </a:ext>
            </a:extLst>
          </p:cNvPr>
          <p:cNvSpPr>
            <a:spLocks xmlns:a="http://schemas.openxmlformats.org/drawingml/2006/main" noGrp="1"/>
          </p:cNvSpPr>
          <p:nvPr/>
        </p:nvSpPr>
        <p:spPr>
          <a:xfrm xmlns:a="http://schemas.openxmlformats.org/drawingml/2006/main">
            <a:off x="514350" y="2095500"/>
            <a:ext cx="16954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19050">
            <a:solidFill>
              <a:srgbClr val="D9E2EC"/>
            </a:solidFill>
            <a:prstDash val="solid"/>
          </a:ln>
        </p:spPr>
      </p:sp>
      <p:sp>
        <p:nvSpPr>
          <p:cNvPr id="4" name="">
            <a:extLst xmlns:a="http://schemas.openxmlformats.org/drawingml/2006/main">
              <a:ext uri="{FF2B5EF4-FFF2-40B4-BE49-F238E27FC236}">
                <a16:creationId xmlns:a16="http://schemas.microsoft.com/office/drawing/2014/main" id="{BE705A51-3FFB-4FD5-8F38-B849C9C5E40E}"/>
              </a:ext>
            </a:extLst>
          </p:cNvPr>
          <p:cNvSpPr>
            <a:spLocks xmlns:a="http://schemas.openxmlformats.org/drawingml/2006/main" noGrp="1"/>
          </p:cNvSpPr>
          <p:nvPr/>
        </p:nvSpPr>
        <p:spPr>
          <a:xfrm xmlns:a="http://schemas.openxmlformats.org/drawingml/2006/main">
            <a:off x="666750" y="2238375"/>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Developer</a:t>
            </a:r>
          </a:p>
        </p:txBody>
      </p:sp>
      <p:sp>
        <p:nvSpPr>
          <p:cNvPr id="5" name="">
            <a:extLst xmlns:a="http://schemas.openxmlformats.org/drawingml/2006/main">
              <a:ext uri="{FF2B5EF4-FFF2-40B4-BE49-F238E27FC236}">
                <a16:creationId xmlns:a16="http://schemas.microsoft.com/office/drawing/2014/main" id="{08E90607-A7E4-4153-9C5E-4889A00686F2}"/>
              </a:ext>
            </a:extLst>
          </p:cNvPr>
          <p:cNvSpPr>
            <a:spLocks xmlns:a="http://schemas.openxmlformats.org/drawingml/2006/main" noGrp="1"/>
          </p:cNvSpPr>
          <p:nvPr/>
        </p:nvSpPr>
        <p:spPr>
          <a:xfrm xmlns:a="http://schemas.openxmlformats.org/drawingml/2006/main">
            <a:off x="647700" y="25622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runs deploy.sh</a:t>
            </a:r>
          </a:p>
        </p:txBody>
      </p:sp>
      <p:sp>
        <p:nvSpPr>
          <p:cNvPr id="6" name="">
            <a:extLst xmlns:a="http://schemas.openxmlformats.org/drawingml/2006/main">
              <a:ext uri="{FF2B5EF4-FFF2-40B4-BE49-F238E27FC236}">
                <a16:creationId xmlns:a16="http://schemas.microsoft.com/office/drawing/2014/main" id="{580D4514-4E93-40E7-BAE4-294C2810E791}"/>
              </a:ext>
            </a:extLst>
          </p:cNvPr>
          <p:cNvSpPr>
            <a:spLocks xmlns:a="http://schemas.openxmlformats.org/drawingml/2006/main" noGrp="1"/>
          </p:cNvSpPr>
          <p:nvPr/>
        </p:nvSpPr>
        <p:spPr>
          <a:xfrm xmlns:a="http://schemas.openxmlformats.org/drawingml/2006/main">
            <a:off x="2647950" y="2095500"/>
            <a:ext cx="1695450" cy="895350"/>
          </a:xfrm>
          <a:prstGeom xmlns:a="http://schemas.openxmlformats.org/drawingml/2006/main" prst="roundRect">
            <a:avLst>
              <a:gd name="adj" fmla="val 14894"/>
            </a:avLst>
          </a:prstGeom>
          <a:solidFill xmlns:a="http://schemas.openxmlformats.org/drawingml/2006/main">
            <a:srgbClr val="E9FBF8"/>
          </a:solidFill>
          <a:ln xmlns:a="http://schemas.openxmlformats.org/drawingml/2006/main" w="19050">
            <a:solidFill>
              <a:srgbClr val="20C7B0"/>
            </a:solidFill>
            <a:prstDash val="solid"/>
          </a:ln>
        </p:spPr>
      </p:sp>
      <p:sp>
        <p:nvSpPr>
          <p:cNvPr id="7" name="">
            <a:extLst xmlns:a="http://schemas.openxmlformats.org/drawingml/2006/main">
              <a:ext uri="{FF2B5EF4-FFF2-40B4-BE49-F238E27FC236}">
                <a16:creationId xmlns:a16="http://schemas.microsoft.com/office/drawing/2014/main" id="{E8D14AEF-F55F-4A78-8669-F5FE82288014}"/>
              </a:ext>
            </a:extLst>
          </p:cNvPr>
          <p:cNvSpPr>
            <a:spLocks xmlns:a="http://schemas.openxmlformats.org/drawingml/2006/main" noGrp="1"/>
          </p:cNvSpPr>
          <p:nvPr/>
        </p:nvSpPr>
        <p:spPr>
          <a:xfrm xmlns:a="http://schemas.openxmlformats.org/drawingml/2006/main">
            <a:off x="2800350" y="2238375"/>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Step 0</a:t>
            </a:r>
          </a:p>
        </p:txBody>
      </p:sp>
      <p:sp>
        <p:nvSpPr>
          <p:cNvPr id="8" name="">
            <a:extLst xmlns:a="http://schemas.openxmlformats.org/drawingml/2006/main">
              <a:ext uri="{FF2B5EF4-FFF2-40B4-BE49-F238E27FC236}">
                <a16:creationId xmlns:a16="http://schemas.microsoft.com/office/drawing/2014/main" id="{669196C0-76D1-4D7E-A8B2-ABD952E07990}"/>
              </a:ext>
            </a:extLst>
          </p:cNvPr>
          <p:cNvSpPr>
            <a:spLocks xmlns:a="http://schemas.openxmlformats.org/drawingml/2006/main" noGrp="1"/>
          </p:cNvSpPr>
          <p:nvPr/>
        </p:nvSpPr>
        <p:spPr>
          <a:xfrm xmlns:a="http://schemas.openxmlformats.org/drawingml/2006/main">
            <a:off x="2781300" y="25622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quality-gate.sh</a:t>
            </a:r>
          </a:p>
        </p:txBody>
      </p:sp>
      <p:sp>
        <p:nvSpPr>
          <p:cNvPr id="9" name="">
            <a:extLst xmlns:a="http://schemas.openxmlformats.org/drawingml/2006/main">
              <a:ext uri="{FF2B5EF4-FFF2-40B4-BE49-F238E27FC236}">
                <a16:creationId xmlns:a16="http://schemas.microsoft.com/office/drawing/2014/main" id="{A5C54D60-286F-427E-930A-A6EEFECBB503}"/>
              </a:ext>
            </a:extLst>
          </p:cNvPr>
          <p:cNvSpPr>
            <a:spLocks xmlns:a="http://schemas.openxmlformats.org/drawingml/2006/main" noGrp="1"/>
          </p:cNvSpPr>
          <p:nvPr/>
        </p:nvSpPr>
        <p:spPr>
          <a:xfrm xmlns:a="http://schemas.openxmlformats.org/drawingml/2006/main">
            <a:off x="4781550" y="2095500"/>
            <a:ext cx="1809750" cy="895350"/>
          </a:xfrm>
          <a:prstGeom xmlns:a="http://schemas.openxmlformats.org/drawingml/2006/main" prst="roundRect">
            <a:avLst>
              <a:gd name="adj" fmla="val 14894"/>
            </a:avLst>
          </a:prstGeom>
          <a:solidFill xmlns:a="http://schemas.openxmlformats.org/drawingml/2006/main">
            <a:srgbClr val="EDF5FC"/>
          </a:solidFill>
          <a:ln xmlns:a="http://schemas.openxmlformats.org/drawingml/2006/main" w="19050">
            <a:solidFill>
              <a:srgbClr val="4D9DE0"/>
            </a:solidFill>
            <a:prstDash val="solid"/>
          </a:ln>
        </p:spPr>
      </p:sp>
      <p:sp>
        <p:nvSpPr>
          <p:cNvPr id="10" name="">
            <a:extLst xmlns:a="http://schemas.openxmlformats.org/drawingml/2006/main">
              <a:ext uri="{FF2B5EF4-FFF2-40B4-BE49-F238E27FC236}">
                <a16:creationId xmlns:a16="http://schemas.microsoft.com/office/drawing/2014/main" id="{8F702029-3DB8-4026-9ECD-1F9AD47AD28E}"/>
              </a:ext>
            </a:extLst>
          </p:cNvPr>
          <p:cNvSpPr>
            <a:spLocks xmlns:a="http://schemas.openxmlformats.org/drawingml/2006/main" noGrp="1"/>
          </p:cNvSpPr>
          <p:nvPr/>
        </p:nvSpPr>
        <p:spPr>
          <a:xfrm xmlns:a="http://schemas.openxmlformats.org/drawingml/2006/main">
            <a:off x="4933950" y="2238375"/>
            <a:ext cx="1504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SonarQube</a:t>
            </a:r>
          </a:p>
        </p:txBody>
      </p:sp>
      <p:sp>
        <p:nvSpPr>
          <p:cNvPr id="11" name="">
            <a:extLst xmlns:a="http://schemas.openxmlformats.org/drawingml/2006/main">
              <a:ext uri="{FF2B5EF4-FFF2-40B4-BE49-F238E27FC236}">
                <a16:creationId xmlns:a16="http://schemas.microsoft.com/office/drawing/2014/main" id="{F2168D8A-C12F-4CAE-BB66-588FD9B9D3CD}"/>
              </a:ext>
            </a:extLst>
          </p:cNvPr>
          <p:cNvSpPr>
            <a:spLocks xmlns:a="http://schemas.openxmlformats.org/drawingml/2006/main" noGrp="1"/>
          </p:cNvSpPr>
          <p:nvPr/>
        </p:nvSpPr>
        <p:spPr>
          <a:xfrm xmlns:a="http://schemas.openxmlformats.org/drawingml/2006/main">
            <a:off x="4914900" y="2562225"/>
            <a:ext cx="1543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scan and decision</a:t>
            </a:r>
          </a:p>
        </p:txBody>
      </p:sp>
      <p:sp>
        <p:nvSpPr>
          <p:cNvPr id="12" name="">
            <a:extLst xmlns:a="http://schemas.openxmlformats.org/drawingml/2006/main">
              <a:ext uri="{FF2B5EF4-FFF2-40B4-BE49-F238E27FC236}">
                <a16:creationId xmlns:a16="http://schemas.microsoft.com/office/drawing/2014/main" id="{9C20406A-DF9C-4D90-A504-6CD62B552781}"/>
              </a:ext>
            </a:extLst>
          </p:cNvPr>
          <p:cNvSpPr>
            <a:spLocks xmlns:a="http://schemas.openxmlformats.org/drawingml/2006/main" noGrp="1"/>
          </p:cNvSpPr>
          <p:nvPr/>
        </p:nvSpPr>
        <p:spPr>
          <a:xfrm xmlns:a="http://schemas.openxmlformats.org/drawingml/2006/main">
            <a:off x="7029450" y="2095500"/>
            <a:ext cx="16954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19050">
            <a:solidFill>
              <a:srgbClr val="D9E2EC"/>
            </a:solidFill>
            <a:prstDash val="solid"/>
          </a:ln>
        </p:spPr>
      </p:sp>
      <p:sp>
        <p:nvSpPr>
          <p:cNvPr id="13" name="">
            <a:extLst xmlns:a="http://schemas.openxmlformats.org/drawingml/2006/main">
              <a:ext uri="{FF2B5EF4-FFF2-40B4-BE49-F238E27FC236}">
                <a16:creationId xmlns:a16="http://schemas.microsoft.com/office/drawing/2014/main" id="{C85DF754-18FA-4025-9D9A-D179E24D26FD}"/>
              </a:ext>
            </a:extLst>
          </p:cNvPr>
          <p:cNvSpPr>
            <a:spLocks xmlns:a="http://schemas.openxmlformats.org/drawingml/2006/main" noGrp="1"/>
          </p:cNvSpPr>
          <p:nvPr/>
        </p:nvSpPr>
        <p:spPr>
          <a:xfrm xmlns:a="http://schemas.openxmlformats.org/drawingml/2006/main">
            <a:off x="7181850" y="2238375"/>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Steps 1–2</a:t>
            </a:r>
          </a:p>
        </p:txBody>
      </p:sp>
      <p:sp>
        <p:nvSpPr>
          <p:cNvPr id="14" name="">
            <a:extLst xmlns:a="http://schemas.openxmlformats.org/drawingml/2006/main">
              <a:ext uri="{FF2B5EF4-FFF2-40B4-BE49-F238E27FC236}">
                <a16:creationId xmlns:a16="http://schemas.microsoft.com/office/drawing/2014/main" id="{C7F286C2-B452-4241-99F2-916727EAF9E4}"/>
              </a:ext>
            </a:extLst>
          </p:cNvPr>
          <p:cNvSpPr>
            <a:spLocks xmlns:a="http://schemas.openxmlformats.org/drawingml/2006/main" noGrp="1"/>
          </p:cNvSpPr>
          <p:nvPr/>
        </p:nvSpPr>
        <p:spPr>
          <a:xfrm xmlns:a="http://schemas.openxmlformats.org/drawingml/2006/main">
            <a:off x="7162800" y="25622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scp and ssh</a:t>
            </a:r>
          </a:p>
        </p:txBody>
      </p:sp>
      <p:sp>
        <p:nvSpPr>
          <p:cNvPr id="15" name="">
            <a:extLst xmlns:a="http://schemas.openxmlformats.org/drawingml/2006/main">
              <a:ext uri="{FF2B5EF4-FFF2-40B4-BE49-F238E27FC236}">
                <a16:creationId xmlns:a16="http://schemas.microsoft.com/office/drawing/2014/main" id="{38C6A76C-6861-4543-8503-7D807BF0568B}"/>
              </a:ext>
            </a:extLst>
          </p:cNvPr>
          <p:cNvSpPr>
            <a:spLocks xmlns:a="http://schemas.openxmlformats.org/drawingml/2006/main" noGrp="1"/>
          </p:cNvSpPr>
          <p:nvPr/>
        </p:nvSpPr>
        <p:spPr>
          <a:xfrm xmlns:a="http://schemas.openxmlformats.org/drawingml/2006/main">
            <a:off x="9163050" y="2095500"/>
            <a:ext cx="2000250" cy="895350"/>
          </a:xfrm>
          <a:prstGeom xmlns:a="http://schemas.openxmlformats.org/drawingml/2006/main" prst="roundRect">
            <a:avLst>
              <a:gd name="adj" fmla="val 14894"/>
            </a:avLst>
          </a:prstGeom>
          <a:solidFill xmlns:a="http://schemas.openxmlformats.org/drawingml/2006/main">
            <a:srgbClr val="F2F5F8"/>
          </a:solidFill>
          <a:ln xmlns:a="http://schemas.openxmlformats.org/drawingml/2006/main" w="19050">
            <a:solidFill>
              <a:srgbClr val="526579"/>
            </a:solidFill>
            <a:prstDash val="solid"/>
          </a:ln>
        </p:spPr>
      </p:sp>
      <p:sp>
        <p:nvSpPr>
          <p:cNvPr id="16" name="">
            <a:extLst xmlns:a="http://schemas.openxmlformats.org/drawingml/2006/main">
              <a:ext uri="{FF2B5EF4-FFF2-40B4-BE49-F238E27FC236}">
                <a16:creationId xmlns:a16="http://schemas.microsoft.com/office/drawing/2014/main" id="{FE53DE86-276B-4C97-A149-4C717E2330B0}"/>
              </a:ext>
            </a:extLst>
          </p:cNvPr>
          <p:cNvSpPr>
            <a:spLocks xmlns:a="http://schemas.openxmlformats.org/drawingml/2006/main" noGrp="1"/>
          </p:cNvSpPr>
          <p:nvPr/>
        </p:nvSpPr>
        <p:spPr>
          <a:xfrm xmlns:a="http://schemas.openxmlformats.org/drawingml/2006/main">
            <a:off x="9315450" y="2238375"/>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Azure VM</a:t>
            </a:r>
          </a:p>
        </p:txBody>
      </p:sp>
      <p:sp>
        <p:nvSpPr>
          <p:cNvPr id="17" name="">
            <a:extLst xmlns:a="http://schemas.openxmlformats.org/drawingml/2006/main">
              <a:ext uri="{FF2B5EF4-FFF2-40B4-BE49-F238E27FC236}">
                <a16:creationId xmlns:a16="http://schemas.microsoft.com/office/drawing/2014/main" id="{C551A384-90AA-49B5-B985-CADFB892BA69}"/>
              </a:ext>
            </a:extLst>
          </p:cNvPr>
          <p:cNvSpPr>
            <a:spLocks xmlns:a="http://schemas.openxmlformats.org/drawingml/2006/main" noGrp="1"/>
          </p:cNvSpPr>
          <p:nvPr/>
        </p:nvSpPr>
        <p:spPr>
          <a:xfrm xmlns:a="http://schemas.openxmlformats.org/drawingml/2006/main">
            <a:off x="9296400" y="2562225"/>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Nginx, PM2, API</a:t>
            </a:r>
          </a:p>
        </p:txBody>
      </p:sp>
      <p:cxnSp>
        <p:nvCxnSpPr>
          <p:cNvPr id="49" name=""/>
          <p:cNvCxnSpPr>
            <a:stCxn xmlns:a="http://schemas.openxmlformats.org/drawingml/2006/main" id="3" idx="3"/>
            <a:endCxn xmlns:a="http://schemas.openxmlformats.org/drawingml/2006/main" id="6" idx="1"/>
          </p:cNvCxnSpPr>
          <p:nvPr/>
        </p:nvCxnSpPr>
        <p:spPr>
          <a:xfrm xmlns:a="http://schemas.openxmlformats.org/drawingml/2006/main">
            <a:off x="2209800" y="2543175"/>
            <a:ext cx="4381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50" name=""/>
          <p:cNvCxnSpPr>
            <a:stCxn xmlns:a="http://schemas.openxmlformats.org/drawingml/2006/main" id="6" idx="3"/>
            <a:endCxn xmlns:a="http://schemas.openxmlformats.org/drawingml/2006/main" id="9" idx="1"/>
          </p:cNvCxnSpPr>
          <p:nvPr/>
        </p:nvCxnSpPr>
        <p:spPr>
          <a:xfrm xmlns:a="http://schemas.openxmlformats.org/drawingml/2006/main">
            <a:off x="4343400" y="2543175"/>
            <a:ext cx="4381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51" name=""/>
          <p:cNvCxnSpPr>
            <a:stCxn xmlns:a="http://schemas.openxmlformats.org/drawingml/2006/main" id="9" idx="3"/>
            <a:endCxn xmlns:a="http://schemas.openxmlformats.org/drawingml/2006/main" id="12" idx="1"/>
          </p:cNvCxnSpPr>
          <p:nvPr/>
        </p:nvCxnSpPr>
        <p:spPr>
          <a:xfrm xmlns:a="http://schemas.openxmlformats.org/drawingml/2006/main">
            <a:off x="6591300" y="2543175"/>
            <a:ext cx="4381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52" name=""/>
          <p:cNvCxnSpPr>
            <a:stCxn xmlns:a="http://schemas.openxmlformats.org/drawingml/2006/main" id="12" idx="3"/>
            <a:endCxn xmlns:a="http://schemas.openxmlformats.org/drawingml/2006/main" id="15" idx="1"/>
          </p:cNvCxnSpPr>
          <p:nvPr/>
        </p:nvCxnSpPr>
        <p:spPr>
          <a:xfrm xmlns:a="http://schemas.openxmlformats.org/drawingml/2006/main">
            <a:off x="8724900" y="2543175"/>
            <a:ext cx="4381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53" name=""/>
          <p:cNvCxnSpPr>
            <a:stCxn xmlns:a="http://schemas.openxmlformats.org/drawingml/2006/main" id="9" idx="2"/>
            <a:endCxn xmlns:a="http://schemas.openxmlformats.org/drawingml/2006/main" id="6" idx="2"/>
          </p:cNvCxnSpPr>
          <p:nvPr/>
        </p:nvCxnSpPr>
        <p:spPr>
          <a:xfrm xmlns:a="http://schemas.openxmlformats.org/drawingml/2006/main" flipH="1">
            <a:off x="3495675" y="2990850"/>
            <a:ext cx="2190750" cy="228600"/>
          </a:xfrm>
          <a:prstGeom xmlns:a="http://schemas.openxmlformats.org/drawingml/2006/main" prst="bentConnector4">
            <a:avLst/>
          </a:prstGeom>
          <a:ln xmlns:a="http://schemas.openxmlformats.org/drawingml/2006/main" w="19050">
            <a:solidFill>
              <a:srgbClr val="0C7C70"/>
            </a:solidFill>
            <a:prstDash val="dash"/>
            <a:tailEnd type="triangle" w="med" len="med"/>
          </a:ln>
        </p:spPr>
      </p:cxnSp>
      <p:sp>
        <p:nvSpPr>
          <p:cNvPr id="23" name="">
            <a:extLst xmlns:a="http://schemas.openxmlformats.org/drawingml/2006/main">
              <a:ext uri="{FF2B5EF4-FFF2-40B4-BE49-F238E27FC236}">
                <a16:creationId xmlns:a16="http://schemas.microsoft.com/office/drawing/2014/main" id="{9EE44505-AA4A-43E8-985F-8F5AEE2FBCCE}"/>
              </a:ext>
            </a:extLst>
          </p:cNvPr>
          <p:cNvSpPr>
            <a:spLocks xmlns:a="http://schemas.openxmlformats.org/drawingml/2006/main" noGrp="1"/>
          </p:cNvSpPr>
          <p:nvPr/>
        </p:nvSpPr>
        <p:spPr>
          <a:xfrm xmlns:a="http://schemas.openxmlformats.org/drawingml/2006/main">
            <a:off x="4095750" y="337185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1">
                <a:solidFill>
                  <a:srgbClr val="0C7C70"/>
                </a:solidFill>
                <a:latin typeface="Helvetica Neue"/>
                <a:ea typeface="Helvetica Neue"/>
                <a:cs typeface="Helvetica Neue"/>
              </a:defRPr>
            </a:pPr>
            <a:r>
              <a:rPr sz="1125" b="1">
                <a:solidFill>
                  <a:srgbClr val="0C7C70"/>
                </a:solidFill>
                <a:latin typeface="Helvetica Neue"/>
                <a:ea typeface="Helvetica Neue"/>
                <a:cs typeface="Helvetica Neue"/>
              </a:rPr>
              <a:t>gate result</a:t>
            </a:r>
          </a:p>
        </p:txBody>
      </p:sp>
      <p:sp>
        <p:nvSpPr>
          <p:cNvPr id="24" name="">
            <a:extLst xmlns:a="http://schemas.openxmlformats.org/drawingml/2006/main">
              <a:ext uri="{FF2B5EF4-FFF2-40B4-BE49-F238E27FC236}">
                <a16:creationId xmlns:a16="http://schemas.microsoft.com/office/drawing/2014/main" id="{86B9823C-CD9D-4904-B6A8-A8C043AD72E2}"/>
              </a:ext>
            </a:extLst>
          </p:cNvPr>
          <p:cNvSpPr>
            <a:spLocks xmlns:a="http://schemas.openxmlformats.org/drawingml/2006/main" noGrp="1"/>
          </p:cNvSpPr>
          <p:nvPr/>
        </p:nvSpPr>
        <p:spPr>
          <a:xfrm xmlns:a="http://schemas.openxmlformats.org/drawingml/2006/main">
            <a:off x="666750" y="4152900"/>
            <a:ext cx="4762500" cy="1047750"/>
          </a:xfrm>
          <a:prstGeom xmlns:a="http://schemas.openxmlformats.org/drawingml/2006/main" prst="roundRect">
            <a:avLst>
              <a:gd name="adj" fmla="val 12727"/>
            </a:avLst>
          </a:prstGeom>
          <a:solidFill xmlns:a="http://schemas.openxmlformats.org/drawingml/2006/main">
            <a:srgbClr val="EBFAF3"/>
          </a:solidFill>
          <a:ln xmlns:a="http://schemas.openxmlformats.org/drawingml/2006/main" w="19050">
            <a:solidFill>
              <a:srgbClr val="9BE0BC"/>
            </a:solidFill>
            <a:prstDash val="solid"/>
          </a:ln>
        </p:spPr>
      </p:sp>
      <p:sp>
        <p:nvSpPr>
          <p:cNvPr id="25" name="">
            <a:extLst xmlns:a="http://schemas.openxmlformats.org/drawingml/2006/main">
              <a:ext uri="{FF2B5EF4-FFF2-40B4-BE49-F238E27FC236}">
                <a16:creationId xmlns:a16="http://schemas.microsoft.com/office/drawing/2014/main" id="{9B32AFB5-303B-471B-9586-AA0C5A3E4C21}"/>
              </a:ext>
            </a:extLst>
          </p:cNvPr>
          <p:cNvSpPr>
            <a:spLocks xmlns:a="http://schemas.openxmlformats.org/drawingml/2006/main" noGrp="1"/>
          </p:cNvSpPr>
          <p:nvPr/>
        </p:nvSpPr>
        <p:spPr>
          <a:xfrm xmlns:a="http://schemas.openxmlformats.org/drawingml/2006/main">
            <a:off x="895350" y="4362450"/>
            <a:ext cx="819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147A4A"/>
                </a:solidFill>
                <a:latin typeface="Helvetica Neue"/>
                <a:ea typeface="Helvetica Neue"/>
                <a:cs typeface="Helvetica Neue"/>
              </a:defRPr>
            </a:pPr>
            <a:r>
              <a:rPr sz="1650" b="1">
                <a:solidFill>
                  <a:srgbClr val="147A4A"/>
                </a:solidFill>
                <a:latin typeface="Helvetica Neue"/>
                <a:ea typeface="Helvetica Neue"/>
                <a:cs typeface="Helvetica Neue"/>
              </a:rPr>
              <a:t>PASS</a:t>
            </a:r>
          </a:p>
        </p:txBody>
      </p:sp>
      <p:sp>
        <p:nvSpPr>
          <p:cNvPr id="26" name="">
            <a:extLst xmlns:a="http://schemas.openxmlformats.org/drawingml/2006/main">
              <a:ext uri="{FF2B5EF4-FFF2-40B4-BE49-F238E27FC236}">
                <a16:creationId xmlns:a16="http://schemas.microsoft.com/office/drawing/2014/main" id="{CAB1ADF0-DEEA-45A7-A03D-0B61C05DFD7D}"/>
              </a:ext>
            </a:extLst>
          </p:cNvPr>
          <p:cNvSpPr>
            <a:spLocks xmlns:a="http://schemas.openxmlformats.org/drawingml/2006/main" noGrp="1"/>
          </p:cNvSpPr>
          <p:nvPr/>
        </p:nvSpPr>
        <p:spPr>
          <a:xfrm xmlns:a="http://schemas.openxmlformats.org/drawingml/2006/main">
            <a:off x="1790700" y="43434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132238"/>
                </a:solidFill>
                <a:latin typeface="Helvetica Neue"/>
                <a:ea typeface="Helvetica Neue"/>
                <a:cs typeface="Helvetica Neue"/>
              </a:defRPr>
            </a:pPr>
            <a:r>
              <a:rPr sz="1425" b="0">
                <a:solidFill>
                  <a:srgbClr val="132238"/>
                </a:solidFill>
                <a:latin typeface="Helvetica Neue"/>
                <a:ea typeface="Helvetica Neue"/>
                <a:cs typeface="Helvetica Neue"/>
              </a:rPr>
              <a:t>deploy.sh runs scp, connects by SSH, installs dependencies, runs Prisma migrations, and restarts PM2.</a:t>
            </a:r>
          </a:p>
        </p:txBody>
      </p:sp>
      <p:sp>
        <p:nvSpPr>
          <p:cNvPr id="27" name="">
            <a:extLst xmlns:a="http://schemas.openxmlformats.org/drawingml/2006/main">
              <a:ext uri="{FF2B5EF4-FFF2-40B4-BE49-F238E27FC236}">
                <a16:creationId xmlns:a16="http://schemas.microsoft.com/office/drawing/2014/main" id="{19735C8D-469A-4DD9-8670-B6E7DB28F95B}"/>
              </a:ext>
            </a:extLst>
          </p:cNvPr>
          <p:cNvSpPr>
            <a:spLocks xmlns:a="http://schemas.openxmlformats.org/drawingml/2006/main" noGrp="1"/>
          </p:cNvSpPr>
          <p:nvPr/>
        </p:nvSpPr>
        <p:spPr>
          <a:xfrm xmlns:a="http://schemas.openxmlformats.org/drawingml/2006/main">
            <a:off x="6115050" y="4152900"/>
            <a:ext cx="4762500" cy="1047750"/>
          </a:xfrm>
          <a:prstGeom xmlns:a="http://schemas.openxmlformats.org/drawingml/2006/main" prst="roundRect">
            <a:avLst>
              <a:gd name="adj" fmla="val 12727"/>
            </a:avLst>
          </a:prstGeom>
          <a:solidFill xmlns:a="http://schemas.openxmlformats.org/drawingml/2006/main">
            <a:srgbClr val="FFF0F1"/>
          </a:solidFill>
          <a:ln xmlns:a="http://schemas.openxmlformats.org/drawingml/2006/main" w="19050">
            <a:solidFill>
              <a:srgbClr val="F6B2B8"/>
            </a:solidFill>
            <a:prstDash val="solid"/>
          </a:ln>
        </p:spPr>
      </p:sp>
      <p:sp>
        <p:nvSpPr>
          <p:cNvPr id="28" name="">
            <a:extLst xmlns:a="http://schemas.openxmlformats.org/drawingml/2006/main">
              <a:ext uri="{FF2B5EF4-FFF2-40B4-BE49-F238E27FC236}">
                <a16:creationId xmlns:a16="http://schemas.microsoft.com/office/drawing/2014/main" id="{441A87D3-7808-4487-8E80-86FBA3204DCC}"/>
              </a:ext>
            </a:extLst>
          </p:cNvPr>
          <p:cNvSpPr>
            <a:spLocks xmlns:a="http://schemas.openxmlformats.org/drawingml/2006/main" noGrp="1"/>
          </p:cNvSpPr>
          <p:nvPr/>
        </p:nvSpPr>
        <p:spPr>
          <a:xfrm xmlns:a="http://schemas.openxmlformats.org/drawingml/2006/main">
            <a:off x="6343650" y="4362450"/>
            <a:ext cx="819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9B2730"/>
                </a:solidFill>
                <a:latin typeface="Helvetica Neue"/>
                <a:ea typeface="Helvetica Neue"/>
                <a:cs typeface="Helvetica Neue"/>
              </a:defRPr>
            </a:pPr>
            <a:r>
              <a:rPr sz="1650" b="1">
                <a:solidFill>
                  <a:srgbClr val="9B2730"/>
                </a:solidFill>
                <a:latin typeface="Helvetica Neue"/>
                <a:ea typeface="Helvetica Neue"/>
                <a:cs typeface="Helvetica Neue"/>
              </a:rPr>
              <a:t>FAIL</a:t>
            </a:r>
          </a:p>
        </p:txBody>
      </p:sp>
      <p:sp>
        <p:nvSpPr>
          <p:cNvPr id="29" name="">
            <a:extLst xmlns:a="http://schemas.openxmlformats.org/drawingml/2006/main">
              <a:ext uri="{FF2B5EF4-FFF2-40B4-BE49-F238E27FC236}">
                <a16:creationId xmlns:a16="http://schemas.microsoft.com/office/drawing/2014/main" id="{D00EE258-0FB6-44F7-81F8-2A6A84AFB91A}"/>
              </a:ext>
            </a:extLst>
          </p:cNvPr>
          <p:cNvSpPr>
            <a:spLocks xmlns:a="http://schemas.openxmlformats.org/drawingml/2006/main" noGrp="1"/>
          </p:cNvSpPr>
          <p:nvPr/>
        </p:nvSpPr>
        <p:spPr>
          <a:xfrm xmlns:a="http://schemas.openxmlformats.org/drawingml/2006/main">
            <a:off x="7239000" y="43434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132238"/>
                </a:solidFill>
                <a:latin typeface="Helvetica Neue"/>
                <a:ea typeface="Helvetica Neue"/>
                <a:cs typeface="Helvetica Neue"/>
              </a:defRPr>
            </a:pPr>
            <a:r>
              <a:rPr sz="1425" b="0">
                <a:solidFill>
                  <a:srgbClr val="132238"/>
                </a:solidFill>
                <a:latin typeface="Helvetica Neue"/>
                <a:ea typeface="Helvetica Neue"/>
                <a:cs typeface="Helvetica Neue"/>
              </a:rPr>
              <a:t>deploy.sh exits immediately. The VM is untouched and the developer sees the report URL.</a:t>
            </a:r>
          </a:p>
        </p:txBody>
      </p:sp>
      <p:sp>
        <p:nvSpPr>
          <p:cNvPr id="30" name="">
            <a:extLst xmlns:a="http://schemas.openxmlformats.org/drawingml/2006/main">
              <a:ext uri="{FF2B5EF4-FFF2-40B4-BE49-F238E27FC236}">
                <a16:creationId xmlns:a16="http://schemas.microsoft.com/office/drawing/2014/main" id="{C69D0BF8-E644-4BB5-8C3C-DE9932DDF177}"/>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HONEY · 1:10</a:t>
            </a:r>
          </a:p>
        </p:txBody>
      </p:sp>
      <p:sp>
        <p:nvSpPr>
          <p:cNvPr id="31" name="">
            <a:extLst xmlns:a="http://schemas.openxmlformats.org/drawingml/2006/main">
              <a:ext uri="{FF2B5EF4-FFF2-40B4-BE49-F238E27FC236}">
                <a16:creationId xmlns:a16="http://schemas.microsoft.com/office/drawing/2014/main" id="{7692A22C-2EBC-485C-8AEF-8380CACB74B2}"/>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05</a:t>
            </a:r>
          </a:p>
        </p:txBody>
      </p:sp>
    </p:spTree>
    <p:extLst>
      <p:ext uri="{BB962C8B-B14F-4D97-AF65-F5344CB8AC3E}">
        <p14:creationId xmlns:p14="http://schemas.microsoft.com/office/powerpoint/2010/main" val="829363234"/>
      </p:ext>
    </p:extLst>
  </p:cSld>
</p:sld>
</file>

<file path=ppt/slides/slide6.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391E79E-58EB-4F2A-9904-DD9FC489FBB1}"/>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Two branches make the result repeatable</a:t>
            </a:r>
          </a:p>
        </p:txBody>
      </p:sp>
      <p:sp>
        <p:nvSpPr>
          <p:cNvPr id="2" name="">
            <a:extLst xmlns:a="http://schemas.openxmlformats.org/drawingml/2006/main">
              <a:ext uri="{FF2B5EF4-FFF2-40B4-BE49-F238E27FC236}">
                <a16:creationId xmlns:a16="http://schemas.microsoft.com/office/drawing/2014/main" id="{6C1EC79C-8917-44DC-A237-A56602E02AC4}"/>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C94CA4D9-9B77-4B5F-BBC5-C260B4690636}"/>
              </a:ext>
            </a:extLst>
          </p:cNvPr>
          <p:cNvSpPr>
            <a:spLocks xmlns:a="http://schemas.openxmlformats.org/drawingml/2006/main" noGrp="1"/>
          </p:cNvSpPr>
          <p:nvPr/>
        </p:nvSpPr>
        <p:spPr>
          <a:xfrm xmlns:a="http://schemas.openxmlformats.org/drawingml/2006/main">
            <a:off x="647700" y="161925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33C27F"/>
                </a:solidFill>
                <a:latin typeface="Helvetica Neue"/>
                <a:ea typeface="Helvetica Neue"/>
                <a:cs typeface="Helvetica Neue"/>
              </a:defRPr>
            </a:pPr>
            <a:r>
              <a:rPr sz="2400" b="1">
                <a:solidFill>
                  <a:srgbClr val="33C27F"/>
                </a:solidFill>
                <a:latin typeface="Helvetica Neue"/>
                <a:ea typeface="Helvetica Neue"/>
                <a:cs typeface="Helvetica Neue"/>
              </a:rPr>
              <a:t>main</a:t>
            </a:r>
          </a:p>
        </p:txBody>
      </p:sp>
      <p:sp>
        <p:nvSpPr>
          <p:cNvPr id="4" name="">
            <a:extLst xmlns:a="http://schemas.openxmlformats.org/drawingml/2006/main">
              <a:ext uri="{FF2B5EF4-FFF2-40B4-BE49-F238E27FC236}">
                <a16:creationId xmlns:a16="http://schemas.microsoft.com/office/drawing/2014/main" id="{5E50E99D-45D2-488E-8366-A15F106E9225}"/>
              </a:ext>
            </a:extLst>
          </p:cNvPr>
          <p:cNvSpPr>
            <a:spLocks xmlns:a="http://schemas.openxmlformats.org/drawingml/2006/main" noGrp="1"/>
          </p:cNvSpPr>
          <p:nvPr/>
        </p:nvSpPr>
        <p:spPr>
          <a:xfrm xmlns:a="http://schemas.openxmlformats.org/drawingml/2006/main">
            <a:off x="2628900" y="16573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Clean baseline</a:t>
            </a:r>
          </a:p>
        </p:txBody>
      </p:sp>
      <p:sp>
        <p:nvSpPr>
          <p:cNvPr id="5" name="">
            <a:extLst xmlns:a="http://schemas.openxmlformats.org/drawingml/2006/main">
              <a:ext uri="{FF2B5EF4-FFF2-40B4-BE49-F238E27FC236}">
                <a16:creationId xmlns:a16="http://schemas.microsoft.com/office/drawing/2014/main" id="{B880A2AB-C855-4EAC-A1C9-FC7668C3DFF7}"/>
              </a:ext>
            </a:extLst>
          </p:cNvPr>
          <p:cNvSpPr>
            <a:spLocks xmlns:a="http://schemas.openxmlformats.org/drawingml/2006/main" noGrp="1"/>
          </p:cNvSpPr>
          <p:nvPr/>
        </p:nvSpPr>
        <p:spPr>
          <a:xfrm xmlns:a="http://schemas.openxmlformats.org/drawingml/2006/main">
            <a:off x="6153150" y="1657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0 issues · security A · exit 0</a:t>
            </a:r>
          </a:p>
        </p:txBody>
      </p:sp>
      <p:sp>
        <p:nvSpPr>
          <p:cNvPr id="6" name="">
            <a:extLst xmlns:a="http://schemas.openxmlformats.org/drawingml/2006/main">
              <a:ext uri="{FF2B5EF4-FFF2-40B4-BE49-F238E27FC236}">
                <a16:creationId xmlns:a16="http://schemas.microsoft.com/office/drawing/2014/main" id="{21612964-FBC7-4293-94CC-F57C5C031907}"/>
              </a:ext>
            </a:extLst>
          </p:cNvPr>
          <p:cNvSpPr>
            <a:spLocks xmlns:a="http://schemas.openxmlformats.org/drawingml/2006/main" noGrp="1"/>
          </p:cNvSpPr>
          <p:nvPr/>
        </p:nvSpPr>
        <p:spPr>
          <a:xfrm xmlns:a="http://schemas.openxmlformats.org/drawingml/2006/main">
            <a:off x="647700" y="2247900"/>
            <a:ext cx="10287000" cy="28575"/>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7" name="">
            <a:extLst xmlns:a="http://schemas.openxmlformats.org/drawingml/2006/main">
              <a:ext uri="{FF2B5EF4-FFF2-40B4-BE49-F238E27FC236}">
                <a16:creationId xmlns:a16="http://schemas.microsoft.com/office/drawing/2014/main" id="{1A853340-6C65-463A-A102-62FD18B20A4D}"/>
              </a:ext>
            </a:extLst>
          </p:cNvPr>
          <p:cNvSpPr>
            <a:spLocks xmlns:a="http://schemas.openxmlformats.org/drawingml/2006/main" noGrp="1"/>
          </p:cNvSpPr>
          <p:nvPr/>
        </p:nvSpPr>
        <p:spPr>
          <a:xfrm xmlns:a="http://schemas.openxmlformats.org/drawingml/2006/main">
            <a:off x="647700" y="2724150"/>
            <a:ext cx="190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1875" b="1">
                <a:solidFill>
                  <a:srgbClr val="F05D68"/>
                </a:solidFill>
                <a:latin typeface="Helvetica Neue"/>
                <a:ea typeface="Helvetica Neue"/>
                <a:cs typeface="Helvetica Neue"/>
              </a:defRPr>
            </a:pPr>
            <a:r>
              <a:rPr sz="1875" b="1">
                <a:solidFill>
                  <a:srgbClr val="F05D68"/>
                </a:solidFill>
                <a:latin typeface="Helvetica Neue"/>
                <a:ea typeface="Helvetica Neue"/>
                <a:cs typeface="Helvetica Neue"/>
              </a:rPr>
              <a:t>feature/</a:t>
            </a:r>
          </a:p>
          <a:p xmlns:a="http://schemas.openxmlformats.org/drawingml/2006/main">
            <a:pPr algn="l">
              <a:lnSpc>
                <a:spcPct val="98000"/>
              </a:lnSpc>
              <a:buNone/>
              <a:defRPr sz="1875" b="1">
                <a:solidFill>
                  <a:srgbClr val="F05D68"/>
                </a:solidFill>
                <a:latin typeface="Helvetica Neue"/>
                <a:ea typeface="Helvetica Neue"/>
                <a:cs typeface="Helvetica Neue"/>
              </a:defRPr>
            </a:pPr>
            <a:r>
              <a:rPr sz="1875" b="1">
                <a:solidFill>
                  <a:srgbClr val="F05D68"/>
                </a:solidFill>
                <a:latin typeface="Helvetica Neue"/>
                <a:ea typeface="Helvetica Neue"/>
                <a:cs typeface="Helvetica Neue"/>
              </a:rPr>
              <a:t>sales-reporting</a:t>
            </a:r>
          </a:p>
        </p:txBody>
      </p:sp>
      <p:sp>
        <p:nvSpPr>
          <p:cNvPr id="8" name="">
            <a:extLst xmlns:a="http://schemas.openxmlformats.org/drawingml/2006/main">
              <a:ext uri="{FF2B5EF4-FFF2-40B4-BE49-F238E27FC236}">
                <a16:creationId xmlns:a16="http://schemas.microsoft.com/office/drawing/2014/main" id="{ACB95E56-99CD-484D-9CFD-46CBDCB78837}"/>
              </a:ext>
            </a:extLst>
          </p:cNvPr>
          <p:cNvSpPr>
            <a:spLocks xmlns:a="http://schemas.openxmlformats.org/drawingml/2006/main" noGrp="1"/>
          </p:cNvSpPr>
          <p:nvPr/>
        </p:nvSpPr>
        <p:spPr>
          <a:xfrm xmlns:a="http://schemas.openxmlformats.org/drawingml/2006/main">
            <a:off x="2628900" y="28194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Deliberately unsafe feature</a:t>
            </a:r>
          </a:p>
        </p:txBody>
      </p:sp>
      <p:sp>
        <p:nvSpPr>
          <p:cNvPr id="9" name="">
            <a:extLst xmlns:a="http://schemas.openxmlformats.org/drawingml/2006/main">
              <a:ext uri="{FF2B5EF4-FFF2-40B4-BE49-F238E27FC236}">
                <a16:creationId xmlns:a16="http://schemas.microsoft.com/office/drawing/2014/main" id="{2CFCAE09-517D-4136-BD3A-975195629EF8}"/>
              </a:ext>
            </a:extLst>
          </p:cNvPr>
          <p:cNvSpPr>
            <a:spLocks xmlns:a="http://schemas.openxmlformats.org/drawingml/2006/main" noGrp="1"/>
          </p:cNvSpPr>
          <p:nvPr/>
        </p:nvSpPr>
        <p:spPr>
          <a:xfrm xmlns:a="http://schemas.openxmlformats.org/drawingml/2006/main">
            <a:off x="6153150" y="281940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7 issues · security E · exit 1</a:t>
            </a:r>
          </a:p>
        </p:txBody>
      </p:sp>
      <p:sp>
        <p:nvSpPr>
          <p:cNvPr id="10" name="">
            <a:extLst xmlns:a="http://schemas.openxmlformats.org/drawingml/2006/main">
              <a:ext uri="{FF2B5EF4-FFF2-40B4-BE49-F238E27FC236}">
                <a16:creationId xmlns:a16="http://schemas.microsoft.com/office/drawing/2014/main" id="{522399DD-F4EF-4BF8-B529-C504E86FC009}"/>
              </a:ext>
            </a:extLst>
          </p:cNvPr>
          <p:cNvSpPr>
            <a:spLocks xmlns:a="http://schemas.openxmlformats.org/drawingml/2006/main" noGrp="1"/>
          </p:cNvSpPr>
          <p:nvPr/>
        </p:nvSpPr>
        <p:spPr>
          <a:xfrm xmlns:a="http://schemas.openxmlformats.org/drawingml/2006/main">
            <a:off x="647700" y="3676650"/>
            <a:ext cx="10287000" cy="28575"/>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11" name="">
            <a:extLst xmlns:a="http://schemas.openxmlformats.org/drawingml/2006/main">
              <a:ext uri="{FF2B5EF4-FFF2-40B4-BE49-F238E27FC236}">
                <a16:creationId xmlns:a16="http://schemas.microsoft.com/office/drawing/2014/main" id="{48B883AD-E75A-4A50-BA02-A6CA933A016A}"/>
              </a:ext>
            </a:extLst>
          </p:cNvPr>
          <p:cNvSpPr>
            <a:spLocks xmlns:a="http://schemas.openxmlformats.org/drawingml/2006/main" noGrp="1"/>
          </p:cNvSpPr>
          <p:nvPr/>
        </p:nvSpPr>
        <p:spPr>
          <a:xfrm xmlns:a="http://schemas.openxmlformats.org/drawingml/2006/main">
            <a:off x="647700" y="41148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1">
                <a:solidFill>
                  <a:srgbClr val="20C7B0"/>
                </a:solidFill>
                <a:latin typeface="Helvetica Neue"/>
                <a:ea typeface="Helvetica Neue"/>
                <a:cs typeface="Helvetica Neue"/>
              </a:defRPr>
            </a:pPr>
            <a:r>
              <a:rPr sz="1425" b="1">
                <a:solidFill>
                  <a:srgbClr val="20C7B0"/>
                </a:solidFill>
                <a:latin typeface="Helvetica Neue"/>
                <a:ea typeface="Helvetica Neue"/>
                <a:cs typeface="Helvetica Neue"/>
              </a:rPr>
              <a:t>Quality gate conditions</a:t>
            </a:r>
          </a:p>
        </p:txBody>
      </p:sp>
      <p:sp>
        <p:nvSpPr>
          <p:cNvPr id="12" name="">
            <a:extLst xmlns:a="http://schemas.openxmlformats.org/drawingml/2006/main">
              <a:ext uri="{FF2B5EF4-FFF2-40B4-BE49-F238E27FC236}">
                <a16:creationId xmlns:a16="http://schemas.microsoft.com/office/drawing/2014/main" id="{EAF817FB-7CCF-479C-9FE6-61FFCD2BD923}"/>
              </a:ext>
            </a:extLst>
          </p:cNvPr>
          <p:cNvSpPr>
            <a:spLocks xmlns:a="http://schemas.openxmlformats.org/drawingml/2006/main" noGrp="1"/>
          </p:cNvSpPr>
          <p:nvPr/>
        </p:nvSpPr>
        <p:spPr>
          <a:xfrm xmlns:a="http://schemas.openxmlformats.org/drawingml/2006/main">
            <a:off x="647700" y="464820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Security A     Reliability A     0 blockers</a:t>
            </a:r>
          </a:p>
        </p:txBody>
      </p:sp>
      <p:sp>
        <p:nvSpPr>
          <p:cNvPr id="13" name="">
            <a:extLst xmlns:a="http://schemas.openxmlformats.org/drawingml/2006/main">
              <a:ext uri="{FF2B5EF4-FFF2-40B4-BE49-F238E27FC236}">
                <a16:creationId xmlns:a16="http://schemas.microsoft.com/office/drawing/2014/main" id="{59E06994-90DA-4A4B-8120-9478584E5DC2}"/>
              </a:ext>
            </a:extLst>
          </p:cNvPr>
          <p:cNvSpPr>
            <a:spLocks xmlns:a="http://schemas.openxmlformats.org/drawingml/2006/main" noGrp="1"/>
          </p:cNvSpPr>
          <p:nvPr/>
        </p:nvSpPr>
        <p:spPr>
          <a:xfrm xmlns:a="http://schemas.openxmlformats.org/drawingml/2006/main">
            <a:off x="647700" y="518160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0 new issues     Duplication at or below 3%</a:t>
            </a:r>
          </a:p>
        </p:txBody>
      </p:sp>
      <p:sp>
        <p:nvSpPr>
          <p:cNvPr id="14" name="">
            <a:extLst xmlns:a="http://schemas.openxmlformats.org/drawingml/2006/main">
              <a:ext uri="{FF2B5EF4-FFF2-40B4-BE49-F238E27FC236}">
                <a16:creationId xmlns:a16="http://schemas.microsoft.com/office/drawing/2014/main" id="{6FCD93C2-786C-4C9A-BA1C-C4A55D55AFF0}"/>
              </a:ext>
            </a:extLst>
          </p:cNvPr>
          <p:cNvSpPr>
            <a:spLocks xmlns:a="http://schemas.openxmlformats.org/drawingml/2006/main" noGrp="1"/>
          </p:cNvSpPr>
          <p:nvPr/>
        </p:nvSpPr>
        <p:spPr>
          <a:xfrm xmlns:a="http://schemas.openxmlformats.org/drawingml/2006/main">
            <a:off x="647700" y="585787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F4B740"/>
                </a:solidFill>
                <a:latin typeface="Helvetica Neue"/>
                <a:ea typeface="Helvetica Neue"/>
                <a:cs typeface="Helvetica Neue"/>
              </a:defRPr>
            </a:pPr>
            <a:r>
              <a:rPr sz="1350" b="0">
                <a:solidFill>
                  <a:srgbClr val="F4B740"/>
                </a:solidFill>
                <a:latin typeface="Helvetica Neue"/>
                <a:ea typeface="Helvetica Neue"/>
                <a:cs typeface="Helvetica Neue"/>
              </a:rPr>
              <a:t>No coverage condition: this course API has manual cURL tests, but no unit-test suite.</a:t>
            </a:r>
          </a:p>
        </p:txBody>
      </p:sp>
      <p:sp>
        <p:nvSpPr>
          <p:cNvPr id="15" name="">
            <a:extLst xmlns:a="http://schemas.openxmlformats.org/drawingml/2006/main">
              <a:ext uri="{FF2B5EF4-FFF2-40B4-BE49-F238E27FC236}">
                <a16:creationId xmlns:a16="http://schemas.microsoft.com/office/drawing/2014/main" id="{0129EA11-5AD2-4314-BAE5-D50ABA3D53BE}"/>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HONEY · 0:50</a:t>
            </a:r>
          </a:p>
        </p:txBody>
      </p:sp>
      <p:sp>
        <p:nvSpPr>
          <p:cNvPr id="16" name="">
            <a:extLst xmlns:a="http://schemas.openxmlformats.org/drawingml/2006/main">
              <a:ext uri="{FF2B5EF4-FFF2-40B4-BE49-F238E27FC236}">
                <a16:creationId xmlns:a16="http://schemas.microsoft.com/office/drawing/2014/main" id="{F88E408E-8178-4BC3-9B85-3E7E9AB8B7D2}"/>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06</a:t>
            </a:r>
          </a:p>
        </p:txBody>
      </p:sp>
    </p:spTree>
    <p:extLst>
      <p:ext uri="{BB962C8B-B14F-4D97-AF65-F5344CB8AC3E}">
        <p14:creationId xmlns:p14="http://schemas.microsoft.com/office/powerpoint/2010/main" val="1315789225"/>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F8CEE8D-42EC-4DA2-BF59-EA10D99D67E6}"/>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132238"/>
                </a:solidFill>
                <a:latin typeface="Helvetica Neue"/>
                <a:ea typeface="Helvetica Neue"/>
                <a:cs typeface="Helvetica Neue"/>
              </a:defRPr>
            </a:pPr>
            <a:r>
              <a:rPr sz="2775" b="1">
                <a:solidFill>
                  <a:srgbClr val="132238"/>
                </a:solidFill>
                <a:latin typeface="Helvetica Neue"/>
                <a:ea typeface="Helvetica Neue"/>
                <a:cs typeface="Helvetica Neue"/>
              </a:rPr>
              <a:t>Live demo: a deployment stops at Step 0</a:t>
            </a:r>
          </a:p>
        </p:txBody>
      </p:sp>
      <p:sp>
        <p:nvSpPr>
          <p:cNvPr id="2" name="">
            <a:extLst xmlns:a="http://schemas.openxmlformats.org/drawingml/2006/main">
              <a:ext uri="{FF2B5EF4-FFF2-40B4-BE49-F238E27FC236}">
                <a16:creationId xmlns:a16="http://schemas.microsoft.com/office/drawing/2014/main" id="{0AC7AA57-04F3-4148-92C0-99F106A2C9A7}"/>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BC46B19C-06B4-41A8-BC4E-0099CA34E1B9}"/>
              </a:ext>
            </a:extLst>
          </p:cNvPr>
          <p:cNvSpPr>
            <a:spLocks xmlns:a="http://schemas.openxmlformats.org/drawingml/2006/main" noGrp="1"/>
          </p:cNvSpPr>
          <p:nvPr/>
        </p:nvSpPr>
        <p:spPr>
          <a:xfrm xmlns:a="http://schemas.openxmlformats.org/drawingml/2006/main">
            <a:off x="552450" y="2019300"/>
            <a:ext cx="2381250" cy="2152650"/>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28575">
            <a:solidFill>
              <a:srgbClr val="33C27F"/>
            </a:solidFill>
            <a:prstDash val="solid"/>
          </a:ln>
        </p:spPr>
      </p:sp>
      <p:sp>
        <p:nvSpPr>
          <p:cNvPr id="4" name="">
            <a:extLst xmlns:a="http://schemas.openxmlformats.org/drawingml/2006/main">
              <a:ext uri="{FF2B5EF4-FFF2-40B4-BE49-F238E27FC236}">
                <a16:creationId xmlns:a16="http://schemas.microsoft.com/office/drawing/2014/main" id="{7C49A506-D05F-405B-80DB-43699FF1A401}"/>
              </a:ext>
            </a:extLst>
          </p:cNvPr>
          <p:cNvSpPr>
            <a:spLocks xmlns:a="http://schemas.openxmlformats.org/drawingml/2006/main" noGrp="1"/>
          </p:cNvSpPr>
          <p:nvPr/>
        </p:nvSpPr>
        <p:spPr>
          <a:xfrm xmlns:a="http://schemas.openxmlformats.org/drawingml/2006/main">
            <a:off x="723900" y="2171700"/>
            <a:ext cx="400050" cy="400050"/>
          </a:xfrm>
          <a:prstGeom xmlns:a="http://schemas.openxmlformats.org/drawingml/2006/main" prst="roundRect">
            <a:avLst>
              <a:gd name="adj" fmla="val 50000"/>
            </a:avLst>
          </a:prstGeom>
          <a:solidFill xmlns:a="http://schemas.openxmlformats.org/drawingml/2006/main">
            <a:srgbClr val="33C27F"/>
          </a:solidFill>
          <a:ln xmlns:a="http://schemas.openxmlformats.org/drawingml/2006/main" w="0">
            <a:solidFill>
              <a:srgbClr val="33C27F"/>
            </a:solidFill>
            <a:prstDash val="solid"/>
          </a:ln>
        </p:spPr>
      </p:sp>
      <p:sp>
        <p:nvSpPr>
          <p:cNvPr id="5" name="">
            <a:extLst xmlns:a="http://schemas.openxmlformats.org/drawingml/2006/main">
              <a:ext uri="{FF2B5EF4-FFF2-40B4-BE49-F238E27FC236}">
                <a16:creationId xmlns:a16="http://schemas.microsoft.com/office/drawing/2014/main" id="{1DEC62D6-C6D0-4A5E-AAE1-A579916AC58B}"/>
              </a:ext>
            </a:extLst>
          </p:cNvPr>
          <p:cNvSpPr>
            <a:spLocks xmlns:a="http://schemas.openxmlformats.org/drawingml/2006/main" noGrp="1"/>
          </p:cNvSpPr>
          <p:nvPr/>
        </p:nvSpPr>
        <p:spPr>
          <a:xfrm xmlns:a="http://schemas.openxmlformats.org/drawingml/2006/main">
            <a:off x="723900" y="22098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A9BF0EA9-BD49-4DB1-9AAE-1B6DB16DE2D2}"/>
              </a:ext>
            </a:extLst>
          </p:cNvPr>
          <p:cNvSpPr>
            <a:spLocks xmlns:a="http://schemas.openxmlformats.org/drawingml/2006/main" noGrp="1"/>
          </p:cNvSpPr>
          <p:nvPr/>
        </p:nvSpPr>
        <p:spPr>
          <a:xfrm xmlns:a="http://schemas.openxmlformats.org/drawingml/2006/main">
            <a:off x="1276350" y="22098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Clean branch</a:t>
            </a:r>
          </a:p>
        </p:txBody>
      </p:sp>
      <p:sp>
        <p:nvSpPr>
          <p:cNvPr id="7" name="">
            <a:extLst xmlns:a="http://schemas.openxmlformats.org/drawingml/2006/main">
              <a:ext uri="{FF2B5EF4-FFF2-40B4-BE49-F238E27FC236}">
                <a16:creationId xmlns:a16="http://schemas.microsoft.com/office/drawing/2014/main" id="{B620870F-E8CD-4DFB-9B5A-1D54E36039A3}"/>
              </a:ext>
            </a:extLst>
          </p:cNvPr>
          <p:cNvSpPr>
            <a:spLocks xmlns:a="http://schemas.openxmlformats.org/drawingml/2006/main" noGrp="1"/>
          </p:cNvSpPr>
          <p:nvPr/>
        </p:nvSpPr>
        <p:spPr>
          <a:xfrm xmlns:a="http://schemas.openxmlformats.org/drawingml/2006/main">
            <a:off x="723900" y="2781300"/>
            <a:ext cx="2038350" cy="1123950"/>
          </a:xfrm>
          <a:prstGeom xmlns:a="http://schemas.openxmlformats.org/drawingml/2006/main" prst="roundRect">
            <a:avLst>
              <a:gd name="adj" fmla="val 8475"/>
            </a:avLst>
          </a:prstGeom>
          <a:solidFill xmlns:a="http://schemas.openxmlformats.org/drawingml/2006/main">
            <a:srgbClr val="071522"/>
          </a:solidFill>
          <a:ln xmlns:a="http://schemas.openxmlformats.org/drawingml/2006/main" w="0">
            <a:solidFill>
              <a:srgbClr val="071522"/>
            </a:solidFill>
            <a:prstDash val="solid"/>
          </a:ln>
        </p:spPr>
      </p:sp>
      <p:sp>
        <p:nvSpPr>
          <p:cNvPr id="8" name="">
            <a:extLst xmlns:a="http://schemas.openxmlformats.org/drawingml/2006/main">
              <a:ext uri="{FF2B5EF4-FFF2-40B4-BE49-F238E27FC236}">
                <a16:creationId xmlns:a16="http://schemas.microsoft.com/office/drawing/2014/main" id="{0DFB59D4-8820-4F31-9A80-51E1CB2EFF7E}"/>
              </a:ext>
            </a:extLst>
          </p:cNvPr>
          <p:cNvSpPr>
            <a:spLocks xmlns:a="http://schemas.openxmlformats.org/drawingml/2006/main" noGrp="1"/>
          </p:cNvSpPr>
          <p:nvPr/>
        </p:nvSpPr>
        <p:spPr>
          <a:xfrm xmlns:a="http://schemas.openxmlformats.org/drawingml/2006/main">
            <a:off x="857250" y="2962275"/>
            <a:ext cx="1771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B7E5FF"/>
                </a:solidFill>
                <a:latin typeface="Helvetica Neue"/>
                <a:ea typeface="Helvetica Neue"/>
                <a:cs typeface="Helvetica Neue"/>
              </a:defRPr>
            </a:pPr>
            <a:r>
              <a:rPr sz="1275" b="1">
                <a:solidFill>
                  <a:srgbClr val="B7E5FF"/>
                </a:solidFill>
                <a:latin typeface="Helvetica Neue"/>
                <a:ea typeface="Helvetica Neue"/>
                <a:cs typeface="Helvetica Neue"/>
              </a:rPr>
              <a:t>git checkout main</a:t>
            </a:r>
          </a:p>
          <a:p xmlns:a="http://schemas.openxmlformats.org/drawingml/2006/main">
            <a:pPr algn="l">
              <a:lnSpc>
                <a:spcPct val="112000"/>
              </a:lnSpc>
              <a:buNone/>
              <a:defRPr sz="1275" b="1">
                <a:solidFill>
                  <a:srgbClr val="B7E5FF"/>
                </a:solidFill>
                <a:latin typeface="Helvetica Neue"/>
                <a:ea typeface="Helvetica Neue"/>
                <a:cs typeface="Helvetica Neue"/>
              </a:defRPr>
            </a:pPr>
            <a:r>
              <a:rPr sz="1275" b="1">
                <a:solidFill>
                  <a:srgbClr val="B7E5FF"/>
                </a:solidFill>
                <a:latin typeface="Helvetica Neue"/>
                <a:ea typeface="Helvetica Neue"/>
                <a:cs typeface="Helvetica Neue"/>
              </a:rPr>
              <a:t>run-local-demo.sh</a:t>
            </a:r>
          </a:p>
        </p:txBody>
      </p:sp>
      <p:sp>
        <p:nvSpPr>
          <p:cNvPr id="9" name="">
            <a:extLst xmlns:a="http://schemas.openxmlformats.org/drawingml/2006/main">
              <a:ext uri="{FF2B5EF4-FFF2-40B4-BE49-F238E27FC236}">
                <a16:creationId xmlns:a16="http://schemas.microsoft.com/office/drawing/2014/main" id="{4B642797-76C7-4287-8FBC-EAC49542C7BA}"/>
              </a:ext>
            </a:extLst>
          </p:cNvPr>
          <p:cNvSpPr>
            <a:spLocks xmlns:a="http://schemas.openxmlformats.org/drawingml/2006/main" noGrp="1"/>
          </p:cNvSpPr>
          <p:nvPr/>
        </p:nvSpPr>
        <p:spPr>
          <a:xfrm xmlns:a="http://schemas.openxmlformats.org/drawingml/2006/main">
            <a:off x="3409950" y="2019300"/>
            <a:ext cx="2381250" cy="2152650"/>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28575">
            <a:solidFill>
              <a:srgbClr val="F4B740"/>
            </a:solidFill>
            <a:prstDash val="solid"/>
          </a:ln>
        </p:spPr>
      </p:sp>
      <p:sp>
        <p:nvSpPr>
          <p:cNvPr id="10" name="">
            <a:extLst xmlns:a="http://schemas.openxmlformats.org/drawingml/2006/main">
              <a:ext uri="{FF2B5EF4-FFF2-40B4-BE49-F238E27FC236}">
                <a16:creationId xmlns:a16="http://schemas.microsoft.com/office/drawing/2014/main" id="{B9C5D031-996B-4DB3-9E5C-CB4B4B7155BB}"/>
              </a:ext>
            </a:extLst>
          </p:cNvPr>
          <p:cNvSpPr>
            <a:spLocks xmlns:a="http://schemas.openxmlformats.org/drawingml/2006/main" noGrp="1"/>
          </p:cNvSpPr>
          <p:nvPr/>
        </p:nvSpPr>
        <p:spPr>
          <a:xfrm xmlns:a="http://schemas.openxmlformats.org/drawingml/2006/main">
            <a:off x="3581400" y="2171700"/>
            <a:ext cx="400050" cy="400050"/>
          </a:xfrm>
          <a:prstGeom xmlns:a="http://schemas.openxmlformats.org/drawingml/2006/main" prst="roundRect">
            <a:avLst>
              <a:gd name="adj" fmla="val 50000"/>
            </a:avLst>
          </a:prstGeom>
          <a:solidFill xmlns:a="http://schemas.openxmlformats.org/drawingml/2006/main">
            <a:srgbClr val="F4B740"/>
          </a:solidFill>
          <a:ln xmlns:a="http://schemas.openxmlformats.org/drawingml/2006/main" w="0">
            <a:solidFill>
              <a:srgbClr val="F4B740"/>
            </a:solidFill>
            <a:prstDash val="solid"/>
          </a:ln>
        </p:spPr>
      </p:sp>
      <p:sp>
        <p:nvSpPr>
          <p:cNvPr id="11" name="">
            <a:extLst xmlns:a="http://schemas.openxmlformats.org/drawingml/2006/main">
              <a:ext uri="{FF2B5EF4-FFF2-40B4-BE49-F238E27FC236}">
                <a16:creationId xmlns:a16="http://schemas.microsoft.com/office/drawing/2014/main" id="{9B7433DC-F55E-4926-810A-4C070352BA68}"/>
              </a:ext>
            </a:extLst>
          </p:cNvPr>
          <p:cNvSpPr>
            <a:spLocks xmlns:a="http://schemas.openxmlformats.org/drawingml/2006/main" noGrp="1"/>
          </p:cNvSpPr>
          <p:nvPr/>
        </p:nvSpPr>
        <p:spPr>
          <a:xfrm xmlns:a="http://schemas.openxmlformats.org/drawingml/2006/main">
            <a:off x="3581400" y="22098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D06DA263-966C-40F2-88B6-4F5FAF63B7D0}"/>
              </a:ext>
            </a:extLst>
          </p:cNvPr>
          <p:cNvSpPr>
            <a:spLocks xmlns:a="http://schemas.openxmlformats.org/drawingml/2006/main" noGrp="1"/>
          </p:cNvSpPr>
          <p:nvPr/>
        </p:nvSpPr>
        <p:spPr>
          <a:xfrm xmlns:a="http://schemas.openxmlformats.org/drawingml/2006/main">
            <a:off x="4133850" y="22098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Bad branch</a:t>
            </a:r>
          </a:p>
        </p:txBody>
      </p:sp>
      <p:sp>
        <p:nvSpPr>
          <p:cNvPr id="13" name="">
            <a:extLst xmlns:a="http://schemas.openxmlformats.org/drawingml/2006/main">
              <a:ext uri="{FF2B5EF4-FFF2-40B4-BE49-F238E27FC236}">
                <a16:creationId xmlns:a16="http://schemas.microsoft.com/office/drawing/2014/main" id="{25B03D81-93D9-4C41-9B0D-910DEF5111EC}"/>
              </a:ext>
            </a:extLst>
          </p:cNvPr>
          <p:cNvSpPr>
            <a:spLocks xmlns:a="http://schemas.openxmlformats.org/drawingml/2006/main" noGrp="1"/>
          </p:cNvSpPr>
          <p:nvPr/>
        </p:nvSpPr>
        <p:spPr>
          <a:xfrm xmlns:a="http://schemas.openxmlformats.org/drawingml/2006/main">
            <a:off x="3581400" y="2781300"/>
            <a:ext cx="2038350" cy="1123950"/>
          </a:xfrm>
          <a:prstGeom xmlns:a="http://schemas.openxmlformats.org/drawingml/2006/main" prst="roundRect">
            <a:avLst>
              <a:gd name="adj" fmla="val 8475"/>
            </a:avLst>
          </a:prstGeom>
          <a:solidFill xmlns:a="http://schemas.openxmlformats.org/drawingml/2006/main">
            <a:srgbClr val="071522"/>
          </a:solidFill>
          <a:ln xmlns:a="http://schemas.openxmlformats.org/drawingml/2006/main" w="0">
            <a:solidFill>
              <a:srgbClr val="071522"/>
            </a:solidFill>
            <a:prstDash val="solid"/>
          </a:ln>
        </p:spPr>
      </p:sp>
      <p:sp>
        <p:nvSpPr>
          <p:cNvPr id="14" name="">
            <a:extLst xmlns:a="http://schemas.openxmlformats.org/drawingml/2006/main">
              <a:ext uri="{FF2B5EF4-FFF2-40B4-BE49-F238E27FC236}">
                <a16:creationId xmlns:a16="http://schemas.microsoft.com/office/drawing/2014/main" id="{BB82F0CE-8946-4E47-AE80-B067BF04A1EA}"/>
              </a:ext>
            </a:extLst>
          </p:cNvPr>
          <p:cNvSpPr>
            <a:spLocks xmlns:a="http://schemas.openxmlformats.org/drawingml/2006/main" noGrp="1"/>
          </p:cNvSpPr>
          <p:nvPr/>
        </p:nvSpPr>
        <p:spPr>
          <a:xfrm xmlns:a="http://schemas.openxmlformats.org/drawingml/2006/main">
            <a:off x="3714750" y="2962275"/>
            <a:ext cx="1771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B7E5FF"/>
                </a:solidFill>
                <a:latin typeface="Helvetica Neue"/>
                <a:ea typeface="Helvetica Neue"/>
                <a:cs typeface="Helvetica Neue"/>
              </a:defRPr>
            </a:pPr>
            <a:r>
              <a:rPr sz="1275" b="1">
                <a:solidFill>
                  <a:srgbClr val="B7E5FF"/>
                </a:solidFill>
                <a:latin typeface="Helvetica Neue"/>
                <a:ea typeface="Helvetica Neue"/>
                <a:cs typeface="Helvetica Neue"/>
              </a:rPr>
              <a:t>git checkout</a:t>
            </a:r>
          </a:p>
          <a:p xmlns:a="http://schemas.openxmlformats.org/drawingml/2006/main">
            <a:pPr algn="l">
              <a:lnSpc>
                <a:spcPct val="112000"/>
              </a:lnSpc>
              <a:buNone/>
              <a:defRPr sz="1275" b="1">
                <a:solidFill>
                  <a:srgbClr val="B7E5FF"/>
                </a:solidFill>
                <a:latin typeface="Helvetica Neue"/>
                <a:ea typeface="Helvetica Neue"/>
                <a:cs typeface="Helvetica Neue"/>
              </a:defRPr>
            </a:pPr>
            <a:r>
              <a:rPr sz="1275" b="1">
                <a:solidFill>
                  <a:srgbClr val="B7E5FF"/>
                </a:solidFill>
                <a:latin typeface="Helvetica Neue"/>
                <a:ea typeface="Helvetica Neue"/>
                <a:cs typeface="Helvetica Neue"/>
              </a:rPr>
              <a:t>feature branch</a:t>
            </a:r>
          </a:p>
        </p:txBody>
      </p:sp>
      <p:sp>
        <p:nvSpPr>
          <p:cNvPr id="15" name="">
            <a:extLst xmlns:a="http://schemas.openxmlformats.org/drawingml/2006/main">
              <a:ext uri="{FF2B5EF4-FFF2-40B4-BE49-F238E27FC236}">
                <a16:creationId xmlns:a16="http://schemas.microsoft.com/office/drawing/2014/main" id="{2ABDAB27-20B4-4A42-A1FD-70EEB3CCA500}"/>
              </a:ext>
            </a:extLst>
          </p:cNvPr>
          <p:cNvSpPr>
            <a:spLocks xmlns:a="http://schemas.openxmlformats.org/drawingml/2006/main" noGrp="1"/>
          </p:cNvSpPr>
          <p:nvPr/>
        </p:nvSpPr>
        <p:spPr>
          <a:xfrm xmlns:a="http://schemas.openxmlformats.org/drawingml/2006/main">
            <a:off x="6267450" y="2019300"/>
            <a:ext cx="2381250" cy="2152650"/>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28575">
            <a:solidFill>
              <a:srgbClr val="4D9DE0"/>
            </a:solidFill>
            <a:prstDash val="solid"/>
          </a:ln>
        </p:spPr>
      </p:sp>
      <p:sp>
        <p:nvSpPr>
          <p:cNvPr id="16" name="">
            <a:extLst xmlns:a="http://schemas.openxmlformats.org/drawingml/2006/main">
              <a:ext uri="{FF2B5EF4-FFF2-40B4-BE49-F238E27FC236}">
                <a16:creationId xmlns:a16="http://schemas.microsoft.com/office/drawing/2014/main" id="{C6C606C5-1F47-463D-BF22-3C6AF51B0430}"/>
              </a:ext>
            </a:extLst>
          </p:cNvPr>
          <p:cNvSpPr>
            <a:spLocks xmlns:a="http://schemas.openxmlformats.org/drawingml/2006/main" noGrp="1"/>
          </p:cNvSpPr>
          <p:nvPr/>
        </p:nvSpPr>
        <p:spPr>
          <a:xfrm xmlns:a="http://schemas.openxmlformats.org/drawingml/2006/main">
            <a:off x="6438900" y="2171700"/>
            <a:ext cx="400050" cy="400050"/>
          </a:xfrm>
          <a:prstGeom xmlns:a="http://schemas.openxmlformats.org/drawingml/2006/main" prst="roundRect">
            <a:avLst>
              <a:gd name="adj" fmla="val 50000"/>
            </a:avLst>
          </a:prstGeom>
          <a:solidFill xmlns:a="http://schemas.openxmlformats.org/drawingml/2006/main">
            <a:srgbClr val="4D9DE0"/>
          </a:solidFill>
          <a:ln xmlns:a="http://schemas.openxmlformats.org/drawingml/2006/main" w="0">
            <a:solidFill>
              <a:srgbClr val="4D9DE0"/>
            </a:solidFill>
            <a:prstDash val="solid"/>
          </a:ln>
        </p:spPr>
      </p:sp>
      <p:sp>
        <p:nvSpPr>
          <p:cNvPr id="17" name="">
            <a:extLst xmlns:a="http://schemas.openxmlformats.org/drawingml/2006/main">
              <a:ext uri="{FF2B5EF4-FFF2-40B4-BE49-F238E27FC236}">
                <a16:creationId xmlns:a16="http://schemas.microsoft.com/office/drawing/2014/main" id="{73128478-9D9F-48DB-8647-FF5C5737504B}"/>
              </a:ext>
            </a:extLst>
          </p:cNvPr>
          <p:cNvSpPr>
            <a:spLocks xmlns:a="http://schemas.openxmlformats.org/drawingml/2006/main" noGrp="1"/>
          </p:cNvSpPr>
          <p:nvPr/>
        </p:nvSpPr>
        <p:spPr>
          <a:xfrm xmlns:a="http://schemas.openxmlformats.org/drawingml/2006/main">
            <a:off x="6438900" y="22098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E5E6CCBE-B418-47A3-96C8-2A0629DA9BAE}"/>
              </a:ext>
            </a:extLst>
          </p:cNvPr>
          <p:cNvSpPr>
            <a:spLocks xmlns:a="http://schemas.openxmlformats.org/drawingml/2006/main" noGrp="1"/>
          </p:cNvSpPr>
          <p:nvPr/>
        </p:nvSpPr>
        <p:spPr>
          <a:xfrm xmlns:a="http://schemas.openxmlformats.org/drawingml/2006/main">
            <a:off x="6991350" y="22098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Real deploy command</a:t>
            </a:r>
          </a:p>
        </p:txBody>
      </p:sp>
      <p:sp>
        <p:nvSpPr>
          <p:cNvPr id="19" name="">
            <a:extLst xmlns:a="http://schemas.openxmlformats.org/drawingml/2006/main">
              <a:ext uri="{FF2B5EF4-FFF2-40B4-BE49-F238E27FC236}">
                <a16:creationId xmlns:a16="http://schemas.microsoft.com/office/drawing/2014/main" id="{108435D5-290F-419A-A158-92D3AC70FF74}"/>
              </a:ext>
            </a:extLst>
          </p:cNvPr>
          <p:cNvSpPr>
            <a:spLocks xmlns:a="http://schemas.openxmlformats.org/drawingml/2006/main" noGrp="1"/>
          </p:cNvSpPr>
          <p:nvPr/>
        </p:nvSpPr>
        <p:spPr>
          <a:xfrm xmlns:a="http://schemas.openxmlformats.org/drawingml/2006/main">
            <a:off x="6438900" y="2781300"/>
            <a:ext cx="2038350" cy="1123950"/>
          </a:xfrm>
          <a:prstGeom xmlns:a="http://schemas.openxmlformats.org/drawingml/2006/main" prst="roundRect">
            <a:avLst>
              <a:gd name="adj" fmla="val 8475"/>
            </a:avLst>
          </a:prstGeom>
          <a:solidFill xmlns:a="http://schemas.openxmlformats.org/drawingml/2006/main">
            <a:srgbClr val="071522"/>
          </a:solidFill>
          <a:ln xmlns:a="http://schemas.openxmlformats.org/drawingml/2006/main" w="0">
            <a:solidFill>
              <a:srgbClr val="071522"/>
            </a:solidFill>
            <a:prstDash val="solid"/>
          </a:ln>
        </p:spPr>
      </p:sp>
      <p:sp>
        <p:nvSpPr>
          <p:cNvPr id="20" name="">
            <a:extLst xmlns:a="http://schemas.openxmlformats.org/drawingml/2006/main">
              <a:ext uri="{FF2B5EF4-FFF2-40B4-BE49-F238E27FC236}">
                <a16:creationId xmlns:a16="http://schemas.microsoft.com/office/drawing/2014/main" id="{D1DB5937-F517-443B-B6E7-C2FDBA06424F}"/>
              </a:ext>
            </a:extLst>
          </p:cNvPr>
          <p:cNvSpPr>
            <a:spLocks xmlns:a="http://schemas.openxmlformats.org/drawingml/2006/main" noGrp="1"/>
          </p:cNvSpPr>
          <p:nvPr/>
        </p:nvSpPr>
        <p:spPr>
          <a:xfrm xmlns:a="http://schemas.openxmlformats.org/drawingml/2006/main">
            <a:off x="6572250" y="2962275"/>
            <a:ext cx="1771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B7E5FF"/>
                </a:solidFill>
                <a:latin typeface="Helvetica Neue"/>
                <a:ea typeface="Helvetica Neue"/>
                <a:cs typeface="Helvetica Neue"/>
              </a:defRPr>
            </a:pPr>
            <a:r>
              <a:rPr sz="1275" b="1">
                <a:solidFill>
                  <a:srgbClr val="B7E5FF"/>
                </a:solidFill>
                <a:latin typeface="Helvetica Neue"/>
                <a:ea typeface="Helvetica Neue"/>
                <a:cs typeface="Helvetica Neue"/>
              </a:rPr>
              <a:t>./deploy.sh</a:t>
            </a:r>
          </a:p>
        </p:txBody>
      </p:sp>
      <p:sp>
        <p:nvSpPr>
          <p:cNvPr id="21" name="">
            <a:extLst xmlns:a="http://schemas.openxmlformats.org/drawingml/2006/main">
              <a:ext uri="{FF2B5EF4-FFF2-40B4-BE49-F238E27FC236}">
                <a16:creationId xmlns:a16="http://schemas.microsoft.com/office/drawing/2014/main" id="{186B3E06-1EE3-4D3C-B57E-751383398A2A}"/>
              </a:ext>
            </a:extLst>
          </p:cNvPr>
          <p:cNvSpPr>
            <a:spLocks xmlns:a="http://schemas.openxmlformats.org/drawingml/2006/main" noGrp="1"/>
          </p:cNvSpPr>
          <p:nvPr/>
        </p:nvSpPr>
        <p:spPr>
          <a:xfrm xmlns:a="http://schemas.openxmlformats.org/drawingml/2006/main">
            <a:off x="9124950" y="2019300"/>
            <a:ext cx="2381250" cy="2152650"/>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28575">
            <a:solidFill>
              <a:srgbClr val="F05D68"/>
            </a:solidFill>
            <a:prstDash val="solid"/>
          </a:ln>
        </p:spPr>
      </p:sp>
      <p:sp>
        <p:nvSpPr>
          <p:cNvPr id="22" name="">
            <a:extLst xmlns:a="http://schemas.openxmlformats.org/drawingml/2006/main">
              <a:ext uri="{FF2B5EF4-FFF2-40B4-BE49-F238E27FC236}">
                <a16:creationId xmlns:a16="http://schemas.microsoft.com/office/drawing/2014/main" id="{8F92F3F2-3612-4366-B9D2-CAD83CECFDE5}"/>
              </a:ext>
            </a:extLst>
          </p:cNvPr>
          <p:cNvSpPr>
            <a:spLocks xmlns:a="http://schemas.openxmlformats.org/drawingml/2006/main" noGrp="1"/>
          </p:cNvSpPr>
          <p:nvPr/>
        </p:nvSpPr>
        <p:spPr>
          <a:xfrm xmlns:a="http://schemas.openxmlformats.org/drawingml/2006/main">
            <a:off x="9296400" y="2171700"/>
            <a:ext cx="400050" cy="400050"/>
          </a:xfrm>
          <a:prstGeom xmlns:a="http://schemas.openxmlformats.org/drawingml/2006/main" prst="roundRect">
            <a:avLst>
              <a:gd name="adj" fmla="val 50000"/>
            </a:avLst>
          </a:prstGeom>
          <a:solidFill xmlns:a="http://schemas.openxmlformats.org/drawingml/2006/main">
            <a:srgbClr val="F05D68"/>
          </a:solidFill>
          <a:ln xmlns:a="http://schemas.openxmlformats.org/drawingml/2006/main" w="0">
            <a:solidFill>
              <a:srgbClr val="F05D68"/>
            </a:solidFill>
            <a:prstDash val="solid"/>
          </a:ln>
        </p:spPr>
      </p:sp>
      <p:sp>
        <p:nvSpPr>
          <p:cNvPr id="23" name="">
            <a:extLst xmlns:a="http://schemas.openxmlformats.org/drawingml/2006/main">
              <a:ext uri="{FF2B5EF4-FFF2-40B4-BE49-F238E27FC236}">
                <a16:creationId xmlns:a16="http://schemas.microsoft.com/office/drawing/2014/main" id="{66F8BE05-6CC0-4A79-976D-A7BDE89F64FE}"/>
              </a:ext>
            </a:extLst>
          </p:cNvPr>
          <p:cNvSpPr>
            <a:spLocks xmlns:a="http://schemas.openxmlformats.org/drawingml/2006/main" noGrp="1"/>
          </p:cNvSpPr>
          <p:nvPr/>
        </p:nvSpPr>
        <p:spPr>
          <a:xfrm xmlns:a="http://schemas.openxmlformats.org/drawingml/2006/main">
            <a:off x="9296400" y="22098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4</a:t>
            </a:r>
          </a:p>
        </p:txBody>
      </p:sp>
      <p:sp>
        <p:nvSpPr>
          <p:cNvPr id="24" name="">
            <a:extLst xmlns:a="http://schemas.openxmlformats.org/drawingml/2006/main">
              <a:ext uri="{FF2B5EF4-FFF2-40B4-BE49-F238E27FC236}">
                <a16:creationId xmlns:a16="http://schemas.microsoft.com/office/drawing/2014/main" id="{435B57D5-8260-404C-AD4D-89668ACBB035}"/>
              </a:ext>
            </a:extLst>
          </p:cNvPr>
          <p:cNvSpPr>
            <a:spLocks xmlns:a="http://schemas.openxmlformats.org/drawingml/2006/main" noGrp="1"/>
          </p:cNvSpPr>
          <p:nvPr/>
        </p:nvSpPr>
        <p:spPr>
          <a:xfrm xmlns:a="http://schemas.openxmlformats.org/drawingml/2006/main">
            <a:off x="9848850" y="22098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Expected result</a:t>
            </a:r>
          </a:p>
        </p:txBody>
      </p:sp>
      <p:sp>
        <p:nvSpPr>
          <p:cNvPr id="25" name="">
            <a:extLst xmlns:a="http://schemas.openxmlformats.org/drawingml/2006/main">
              <a:ext uri="{FF2B5EF4-FFF2-40B4-BE49-F238E27FC236}">
                <a16:creationId xmlns:a16="http://schemas.microsoft.com/office/drawing/2014/main" id="{44DD1489-6F18-4B36-A5B7-A5491112AF3D}"/>
              </a:ext>
            </a:extLst>
          </p:cNvPr>
          <p:cNvSpPr>
            <a:spLocks xmlns:a="http://schemas.openxmlformats.org/drawingml/2006/main" noGrp="1"/>
          </p:cNvSpPr>
          <p:nvPr/>
        </p:nvSpPr>
        <p:spPr>
          <a:xfrm xmlns:a="http://schemas.openxmlformats.org/drawingml/2006/main">
            <a:off x="9296400" y="2781300"/>
            <a:ext cx="2038350" cy="1123950"/>
          </a:xfrm>
          <a:prstGeom xmlns:a="http://schemas.openxmlformats.org/drawingml/2006/main" prst="roundRect">
            <a:avLst>
              <a:gd name="adj" fmla="val 8475"/>
            </a:avLst>
          </a:prstGeom>
          <a:solidFill xmlns:a="http://schemas.openxmlformats.org/drawingml/2006/main">
            <a:srgbClr val="071522"/>
          </a:solidFill>
          <a:ln xmlns:a="http://schemas.openxmlformats.org/drawingml/2006/main" w="0">
            <a:solidFill>
              <a:srgbClr val="071522"/>
            </a:solidFill>
            <a:prstDash val="solid"/>
          </a:ln>
        </p:spPr>
      </p:sp>
      <p:sp>
        <p:nvSpPr>
          <p:cNvPr id="26" name="">
            <a:extLst xmlns:a="http://schemas.openxmlformats.org/drawingml/2006/main">
              <a:ext uri="{FF2B5EF4-FFF2-40B4-BE49-F238E27FC236}">
                <a16:creationId xmlns:a16="http://schemas.microsoft.com/office/drawing/2014/main" id="{9FB1FAA2-1484-49DA-B2B0-05107F061B63}"/>
              </a:ext>
            </a:extLst>
          </p:cNvPr>
          <p:cNvSpPr>
            <a:spLocks xmlns:a="http://schemas.openxmlformats.org/drawingml/2006/main" noGrp="1"/>
          </p:cNvSpPr>
          <p:nvPr/>
        </p:nvSpPr>
        <p:spPr>
          <a:xfrm xmlns:a="http://schemas.openxmlformats.org/drawingml/2006/main">
            <a:off x="9429750" y="2962275"/>
            <a:ext cx="1771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FFB2B8"/>
                </a:solidFill>
                <a:latin typeface="Helvetica Neue"/>
                <a:ea typeface="Helvetica Neue"/>
                <a:cs typeface="Helvetica Neue"/>
              </a:defRPr>
            </a:pPr>
            <a:r>
              <a:rPr sz="1275" b="1">
                <a:solidFill>
                  <a:srgbClr val="FFB2B8"/>
                </a:solidFill>
                <a:latin typeface="Helvetica Neue"/>
                <a:ea typeface="Helvetica Neue"/>
                <a:cs typeface="Helvetica Neue"/>
              </a:rPr>
              <a:t>DEPLOY ABORTED</a:t>
            </a:r>
          </a:p>
          <a:p xmlns:a="http://schemas.openxmlformats.org/drawingml/2006/main">
            <a:pPr algn="l">
              <a:lnSpc>
                <a:spcPct val="112000"/>
              </a:lnSpc>
              <a:buNone/>
              <a:defRPr sz="1275" b="1">
                <a:solidFill>
                  <a:srgbClr val="FFB2B8"/>
                </a:solidFill>
                <a:latin typeface="Helvetica Neue"/>
                <a:ea typeface="Helvetica Neue"/>
                <a:cs typeface="Helvetica Neue"/>
              </a:defRPr>
            </a:pPr>
            <a:r>
              <a:rPr sz="1275" b="1">
                <a:solidFill>
                  <a:srgbClr val="FFB2B8"/>
                </a:solidFill>
                <a:latin typeface="Helvetica Neue"/>
                <a:ea typeface="Helvetica Neue"/>
                <a:cs typeface="Helvetica Neue"/>
              </a:rPr>
              <a:t>scp never runs</a:t>
            </a:r>
          </a:p>
        </p:txBody>
      </p:sp>
      <p:cxnSp>
        <p:nvCxnSpPr>
          <p:cNvPr id="60" name=""/>
          <p:cNvCxnSpPr>
            <a:stCxn xmlns:a="http://schemas.openxmlformats.org/drawingml/2006/main" id="3" idx="3"/>
            <a:endCxn xmlns:a="http://schemas.openxmlformats.org/drawingml/2006/main" id="9" idx="1"/>
          </p:cNvCxnSpPr>
          <p:nvPr/>
        </p:nvCxnSpPr>
        <p:spPr>
          <a:xfrm xmlns:a="http://schemas.openxmlformats.org/drawingml/2006/main">
            <a:off x="2933700" y="3095625"/>
            <a:ext cx="4762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61" name=""/>
          <p:cNvCxnSpPr>
            <a:stCxn xmlns:a="http://schemas.openxmlformats.org/drawingml/2006/main" id="9" idx="3"/>
            <a:endCxn xmlns:a="http://schemas.openxmlformats.org/drawingml/2006/main" id="15" idx="1"/>
          </p:cNvCxnSpPr>
          <p:nvPr/>
        </p:nvCxnSpPr>
        <p:spPr>
          <a:xfrm xmlns:a="http://schemas.openxmlformats.org/drawingml/2006/main">
            <a:off x="5791200" y="3095625"/>
            <a:ext cx="4762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62" name=""/>
          <p:cNvCxnSpPr>
            <a:stCxn xmlns:a="http://schemas.openxmlformats.org/drawingml/2006/main" id="15" idx="3"/>
            <a:endCxn xmlns:a="http://schemas.openxmlformats.org/drawingml/2006/main" id="21" idx="1"/>
          </p:cNvCxnSpPr>
          <p:nvPr/>
        </p:nvCxnSpPr>
        <p:spPr>
          <a:xfrm xmlns:a="http://schemas.openxmlformats.org/drawingml/2006/main">
            <a:off x="8648700" y="3095625"/>
            <a:ext cx="4762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sp>
        <p:nvSpPr>
          <p:cNvPr id="30" name="">
            <a:extLst xmlns:a="http://schemas.openxmlformats.org/drawingml/2006/main">
              <a:ext uri="{FF2B5EF4-FFF2-40B4-BE49-F238E27FC236}">
                <a16:creationId xmlns:a16="http://schemas.microsoft.com/office/drawing/2014/main" id="{1D392735-A6DE-4297-AB69-E17A53A8CF78}"/>
              </a:ext>
            </a:extLst>
          </p:cNvPr>
          <p:cNvSpPr>
            <a:spLocks xmlns:a="http://schemas.openxmlformats.org/drawingml/2006/main" noGrp="1"/>
          </p:cNvSpPr>
          <p:nvPr/>
        </p:nvSpPr>
        <p:spPr>
          <a:xfrm xmlns:a="http://schemas.openxmlformats.org/drawingml/2006/main">
            <a:off x="609600" y="4743450"/>
            <a:ext cx="742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132238"/>
                </a:solidFill>
                <a:latin typeface="Helvetica Neue"/>
                <a:ea typeface="Helvetica Neue"/>
                <a:cs typeface="Helvetica Neue"/>
              </a:defRPr>
            </a:pPr>
            <a:r>
              <a:rPr sz="1650" b="1">
                <a:solidFill>
                  <a:srgbClr val="132238"/>
                </a:solidFill>
                <a:latin typeface="Helvetica Neue"/>
                <a:ea typeface="Helvetica Neue"/>
                <a:cs typeface="Helvetica Neue"/>
              </a:rPr>
              <a:t>GitHub PR: feature/sales-reporting into main</a:t>
            </a:r>
          </a:p>
        </p:txBody>
      </p:sp>
      <p:sp>
        <p:nvSpPr>
          <p:cNvPr id="31" name="">
            <a:extLst xmlns:a="http://schemas.openxmlformats.org/drawingml/2006/main">
              <a:ext uri="{FF2B5EF4-FFF2-40B4-BE49-F238E27FC236}">
                <a16:creationId xmlns:a16="http://schemas.microsoft.com/office/drawing/2014/main" id="{49A50F05-EEB3-4FFE-BC08-F86915699C88}"/>
              </a:ext>
            </a:extLst>
          </p:cNvPr>
          <p:cNvSpPr>
            <a:spLocks xmlns:a="http://schemas.openxmlformats.org/drawingml/2006/main" noGrp="1"/>
          </p:cNvSpPr>
          <p:nvPr/>
        </p:nvSpPr>
        <p:spPr>
          <a:xfrm xmlns:a="http://schemas.openxmlformats.org/drawingml/2006/main">
            <a:off x="609600" y="52197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0">
                <a:solidFill>
                  <a:srgbClr val="526579"/>
                </a:solidFill>
                <a:latin typeface="Helvetica Neue"/>
                <a:ea typeface="Helvetica Neue"/>
                <a:cs typeface="Helvetica Neue"/>
              </a:defRPr>
            </a:pPr>
            <a:r>
              <a:rPr sz="1875" b="0">
                <a:solidFill>
                  <a:srgbClr val="526579"/>
                </a:solidFill>
                <a:latin typeface="Helvetica Neue"/>
                <a:ea typeface="Helvetica Neue"/>
                <a:cs typeface="Helvetica Neue"/>
              </a:rPr>
              <a:t>GitHub reports no merge conflict. SonarQube reports unsafe code. Those are different checks.</a:t>
            </a:r>
          </a:p>
        </p:txBody>
      </p:sp>
      <p:sp>
        <p:nvSpPr>
          <p:cNvPr id="32" name="">
            <a:extLst xmlns:a="http://schemas.openxmlformats.org/drawingml/2006/main">
              <a:ext uri="{FF2B5EF4-FFF2-40B4-BE49-F238E27FC236}">
                <a16:creationId xmlns:a16="http://schemas.microsoft.com/office/drawing/2014/main" id="{9C70B4FE-6281-4756-8625-1DAC1F8C8CF9}"/>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THAR · 1:25</a:t>
            </a:r>
          </a:p>
        </p:txBody>
      </p:sp>
      <p:sp>
        <p:nvSpPr>
          <p:cNvPr id="33" name="">
            <a:extLst xmlns:a="http://schemas.openxmlformats.org/drawingml/2006/main">
              <a:ext uri="{FF2B5EF4-FFF2-40B4-BE49-F238E27FC236}">
                <a16:creationId xmlns:a16="http://schemas.microsoft.com/office/drawing/2014/main" id="{24FDA697-F2C4-440C-BE9A-A8255587C193}"/>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07</a:t>
            </a:r>
          </a:p>
        </p:txBody>
      </p:sp>
    </p:spTree>
    <p:extLst>
      <p:ext uri="{BB962C8B-B14F-4D97-AF65-F5344CB8AC3E}">
        <p14:creationId xmlns:p14="http://schemas.microsoft.com/office/powerpoint/2010/main" val="1282060902"/>
      </p:ext>
    </p:extLst>
  </p:cSld>
</p:sld>
</file>

<file path=ppt/slides/slide8.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13B60D2-2B84-4888-A498-CA2E7DBCEDAE}"/>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Verified result on the failing branch</a:t>
            </a:r>
          </a:p>
        </p:txBody>
      </p:sp>
      <p:sp>
        <p:nvSpPr>
          <p:cNvPr id="2" name="">
            <a:extLst xmlns:a="http://schemas.openxmlformats.org/drawingml/2006/main">
              <a:ext uri="{FF2B5EF4-FFF2-40B4-BE49-F238E27FC236}">
                <a16:creationId xmlns:a16="http://schemas.microsoft.com/office/drawing/2014/main" id="{41AC2F54-2560-4E1E-A556-378CFE5BE220}"/>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E3AF3952-60C5-413F-9BC1-744B498375E1}"/>
              </a:ext>
            </a:extLst>
          </p:cNvPr>
          <p:cNvSpPr>
            <a:spLocks xmlns:a="http://schemas.openxmlformats.org/drawingml/2006/main" noGrp="1"/>
          </p:cNvSpPr>
          <p:nvPr/>
        </p:nvSpPr>
        <p:spPr>
          <a:xfrm xmlns:a="http://schemas.openxmlformats.org/drawingml/2006/main">
            <a:off x="666750" y="15240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300" b="1">
                <a:solidFill>
                  <a:srgbClr val="F05D68"/>
                </a:solidFill>
                <a:latin typeface="Helvetica Neue"/>
                <a:ea typeface="Helvetica Neue"/>
                <a:cs typeface="Helvetica Neue"/>
              </a:defRPr>
            </a:pPr>
            <a:r>
              <a:rPr sz="6300" b="1">
                <a:solidFill>
                  <a:srgbClr val="F05D68"/>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D5096ED9-B94E-446B-9BE0-4DE3F14AF3F0}"/>
              </a:ext>
            </a:extLst>
          </p:cNvPr>
          <p:cNvSpPr>
            <a:spLocks xmlns:a="http://schemas.openxmlformats.org/drawingml/2006/main" noGrp="1"/>
          </p:cNvSpPr>
          <p:nvPr/>
        </p:nvSpPr>
        <p:spPr>
          <a:xfrm xmlns:a="http://schemas.openxmlformats.org/drawingml/2006/main">
            <a:off x="704850" y="25527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issues</a:t>
            </a:r>
          </a:p>
        </p:txBody>
      </p:sp>
      <p:sp>
        <p:nvSpPr>
          <p:cNvPr id="5" name="">
            <a:extLst xmlns:a="http://schemas.openxmlformats.org/drawingml/2006/main">
              <a:ext uri="{FF2B5EF4-FFF2-40B4-BE49-F238E27FC236}">
                <a16:creationId xmlns:a16="http://schemas.microsoft.com/office/drawing/2014/main" id="{6EBC1245-5440-45FE-A22B-8DB8A4184A7B}"/>
              </a:ext>
            </a:extLst>
          </p:cNvPr>
          <p:cNvSpPr>
            <a:spLocks xmlns:a="http://schemas.openxmlformats.org/drawingml/2006/main" noGrp="1"/>
          </p:cNvSpPr>
          <p:nvPr/>
        </p:nvSpPr>
        <p:spPr>
          <a:xfrm xmlns:a="http://schemas.openxmlformats.org/drawingml/2006/main">
            <a:off x="3276600" y="15240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300" b="1">
                <a:solidFill>
                  <a:srgbClr val="F4B740"/>
                </a:solidFill>
                <a:latin typeface="Helvetica Neue"/>
                <a:ea typeface="Helvetica Neue"/>
                <a:cs typeface="Helvetica Neue"/>
              </a:defRPr>
            </a:pPr>
            <a:r>
              <a:rPr sz="6300" b="1">
                <a:solidFill>
                  <a:srgbClr val="F4B740"/>
                </a:solidFill>
                <a:latin typeface="Helvetica Neue"/>
                <a:ea typeface="Helvetica Neue"/>
                <a:cs typeface="Helvetica Neue"/>
              </a:rPr>
              <a:t>E</a:t>
            </a:r>
          </a:p>
        </p:txBody>
      </p:sp>
      <p:sp>
        <p:nvSpPr>
          <p:cNvPr id="6" name="">
            <a:extLst xmlns:a="http://schemas.openxmlformats.org/drawingml/2006/main">
              <a:ext uri="{FF2B5EF4-FFF2-40B4-BE49-F238E27FC236}">
                <a16:creationId xmlns:a16="http://schemas.microsoft.com/office/drawing/2014/main" id="{D635EE83-9F67-439E-8985-FC684B1DC27A}"/>
              </a:ext>
            </a:extLst>
          </p:cNvPr>
          <p:cNvSpPr>
            <a:spLocks xmlns:a="http://schemas.openxmlformats.org/drawingml/2006/main" noGrp="1"/>
          </p:cNvSpPr>
          <p:nvPr/>
        </p:nvSpPr>
        <p:spPr>
          <a:xfrm xmlns:a="http://schemas.openxmlformats.org/drawingml/2006/main">
            <a:off x="3314700" y="255270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security rating</a:t>
            </a:r>
          </a:p>
        </p:txBody>
      </p:sp>
      <p:sp>
        <p:nvSpPr>
          <p:cNvPr id="7" name="">
            <a:extLst xmlns:a="http://schemas.openxmlformats.org/drawingml/2006/main">
              <a:ext uri="{FF2B5EF4-FFF2-40B4-BE49-F238E27FC236}">
                <a16:creationId xmlns:a16="http://schemas.microsoft.com/office/drawing/2014/main" id="{D1483DF8-27DC-42DB-A399-140287054E8C}"/>
              </a:ext>
            </a:extLst>
          </p:cNvPr>
          <p:cNvSpPr>
            <a:spLocks xmlns:a="http://schemas.openxmlformats.org/drawingml/2006/main" noGrp="1"/>
          </p:cNvSpPr>
          <p:nvPr/>
        </p:nvSpPr>
        <p:spPr>
          <a:xfrm xmlns:a="http://schemas.openxmlformats.org/drawingml/2006/main">
            <a:off x="6191250" y="15240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300" b="1">
                <a:solidFill>
                  <a:srgbClr val="F05D68"/>
                </a:solidFill>
                <a:latin typeface="Helvetica Neue"/>
                <a:ea typeface="Helvetica Neue"/>
                <a:cs typeface="Helvetica Neue"/>
              </a:defRPr>
            </a:pPr>
            <a:r>
              <a:rPr sz="6300" b="1">
                <a:solidFill>
                  <a:srgbClr val="F05D68"/>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A52E9A14-8AE1-4EF5-A266-76C7C6E82AB4}"/>
              </a:ext>
            </a:extLst>
          </p:cNvPr>
          <p:cNvSpPr>
            <a:spLocks xmlns:a="http://schemas.openxmlformats.org/drawingml/2006/main" noGrp="1"/>
          </p:cNvSpPr>
          <p:nvPr/>
        </p:nvSpPr>
        <p:spPr>
          <a:xfrm xmlns:a="http://schemas.openxmlformats.org/drawingml/2006/main">
            <a:off x="6229350" y="25527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blocker</a:t>
            </a:r>
          </a:p>
        </p:txBody>
      </p:sp>
      <p:sp>
        <p:nvSpPr>
          <p:cNvPr id="9" name="">
            <a:extLst xmlns:a="http://schemas.openxmlformats.org/drawingml/2006/main">
              <a:ext uri="{FF2B5EF4-FFF2-40B4-BE49-F238E27FC236}">
                <a16:creationId xmlns:a16="http://schemas.microsoft.com/office/drawing/2014/main" id="{9194D402-26FC-4946-A500-5A89E0D04BFE}"/>
              </a:ext>
            </a:extLst>
          </p:cNvPr>
          <p:cNvSpPr>
            <a:spLocks xmlns:a="http://schemas.openxmlformats.org/drawingml/2006/main" noGrp="1"/>
          </p:cNvSpPr>
          <p:nvPr/>
        </p:nvSpPr>
        <p:spPr>
          <a:xfrm xmlns:a="http://schemas.openxmlformats.org/drawingml/2006/main">
            <a:off x="666750" y="3314700"/>
            <a:ext cx="10382250" cy="19050"/>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10" name="">
            <a:extLst xmlns:a="http://schemas.openxmlformats.org/drawingml/2006/main">
              <a:ext uri="{FF2B5EF4-FFF2-40B4-BE49-F238E27FC236}">
                <a16:creationId xmlns:a16="http://schemas.microsoft.com/office/drawing/2014/main" id="{5777C173-6CDF-416B-978F-526ACBABCFAF}"/>
              </a:ext>
            </a:extLst>
          </p:cNvPr>
          <p:cNvSpPr>
            <a:spLocks xmlns:a="http://schemas.openxmlformats.org/drawingml/2006/main" noGrp="1"/>
          </p:cNvSpPr>
          <p:nvPr/>
        </p:nvSpPr>
        <p:spPr>
          <a:xfrm xmlns:a="http://schemas.openxmlformats.org/drawingml/2006/main">
            <a:off x="666750" y="36957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F05D68"/>
                </a:solidFill>
                <a:latin typeface="Helvetica Neue"/>
                <a:ea typeface="Helvetica Neue"/>
                <a:cs typeface="Helvetica Neue"/>
              </a:defRPr>
            </a:pPr>
            <a:r>
              <a:rPr sz="1275" b="1">
                <a:solidFill>
                  <a:srgbClr val="F05D68"/>
                </a:solidFill>
                <a:latin typeface="Helvetica Neue"/>
                <a:ea typeface="Helvetica Neue"/>
                <a:cs typeface="Helvetica Neue"/>
              </a:rPr>
              <a:t>BLOCKER</a:t>
            </a:r>
          </a:p>
        </p:txBody>
      </p:sp>
      <p:sp>
        <p:nvSpPr>
          <p:cNvPr id="11" name="">
            <a:extLst xmlns:a="http://schemas.openxmlformats.org/drawingml/2006/main">
              <a:ext uri="{FF2B5EF4-FFF2-40B4-BE49-F238E27FC236}">
                <a16:creationId xmlns:a16="http://schemas.microsoft.com/office/drawing/2014/main" id="{34EE5948-4C71-4BCC-922E-0B27AC04717A}"/>
              </a:ext>
            </a:extLst>
          </p:cNvPr>
          <p:cNvSpPr>
            <a:spLocks xmlns:a="http://schemas.openxmlformats.org/drawingml/2006/main" noGrp="1"/>
          </p:cNvSpPr>
          <p:nvPr/>
        </p:nvSpPr>
        <p:spPr>
          <a:xfrm xmlns:a="http://schemas.openxmlformats.org/drawingml/2006/main">
            <a:off x="2247900" y="36576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Literal JWT signing key lets anyone with the source mint valid tokens</a:t>
            </a:r>
          </a:p>
        </p:txBody>
      </p:sp>
      <p:sp>
        <p:nvSpPr>
          <p:cNvPr id="12" name="">
            <a:extLst xmlns:a="http://schemas.openxmlformats.org/drawingml/2006/main">
              <a:ext uri="{FF2B5EF4-FFF2-40B4-BE49-F238E27FC236}">
                <a16:creationId xmlns:a16="http://schemas.microsoft.com/office/drawing/2014/main" id="{4376B40F-F1B2-4616-93CC-5600FBE353C7}"/>
              </a:ext>
            </a:extLst>
          </p:cNvPr>
          <p:cNvSpPr>
            <a:spLocks xmlns:a="http://schemas.openxmlformats.org/drawingml/2006/main" noGrp="1"/>
          </p:cNvSpPr>
          <p:nvPr/>
        </p:nvSpPr>
        <p:spPr>
          <a:xfrm xmlns:a="http://schemas.openxmlformats.org/drawingml/2006/main">
            <a:off x="666750" y="43053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F4B740"/>
                </a:solidFill>
                <a:latin typeface="Helvetica Neue"/>
                <a:ea typeface="Helvetica Neue"/>
                <a:cs typeface="Helvetica Neue"/>
              </a:defRPr>
            </a:pPr>
            <a:r>
              <a:rPr sz="1275" b="1">
                <a:solidFill>
                  <a:srgbClr val="F4B740"/>
                </a:solidFill>
                <a:latin typeface="Helvetica Neue"/>
                <a:ea typeface="Helvetica Neue"/>
                <a:cs typeface="Helvetica Neue"/>
              </a:rPr>
              <a:t>MAJOR</a:t>
            </a:r>
          </a:p>
        </p:txBody>
      </p:sp>
      <p:sp>
        <p:nvSpPr>
          <p:cNvPr id="13" name="">
            <a:extLst xmlns:a="http://schemas.openxmlformats.org/drawingml/2006/main">
              <a:ext uri="{FF2B5EF4-FFF2-40B4-BE49-F238E27FC236}">
                <a16:creationId xmlns:a16="http://schemas.microsoft.com/office/drawing/2014/main" id="{628FB36C-D7EB-4AFB-9D10-43AB1C86F82E}"/>
              </a:ext>
            </a:extLst>
          </p:cNvPr>
          <p:cNvSpPr>
            <a:spLocks xmlns:a="http://schemas.openxmlformats.org/drawingml/2006/main" noGrp="1"/>
          </p:cNvSpPr>
          <p:nvPr/>
        </p:nvSpPr>
        <p:spPr>
          <a:xfrm xmlns:a="http://schemas.openxmlformats.org/drawingml/2006/main">
            <a:off x="2247900" y="42672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Hard-coded database password and insecure random download token</a:t>
            </a:r>
          </a:p>
        </p:txBody>
      </p:sp>
      <p:sp>
        <p:nvSpPr>
          <p:cNvPr id="14" name="">
            <a:extLst xmlns:a="http://schemas.openxmlformats.org/drawingml/2006/main">
              <a:ext uri="{FF2B5EF4-FFF2-40B4-BE49-F238E27FC236}">
                <a16:creationId xmlns:a16="http://schemas.microsoft.com/office/drawing/2014/main" id="{D6ADBC0F-FA0E-46CB-8CE4-68D28890F110}"/>
              </a:ext>
            </a:extLst>
          </p:cNvPr>
          <p:cNvSpPr>
            <a:spLocks xmlns:a="http://schemas.openxmlformats.org/drawingml/2006/main" noGrp="1"/>
          </p:cNvSpPr>
          <p:nvPr/>
        </p:nvSpPr>
        <p:spPr>
          <a:xfrm xmlns:a="http://schemas.openxmlformats.org/drawingml/2006/main">
            <a:off x="666750" y="49149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F4B740"/>
                </a:solidFill>
                <a:latin typeface="Helvetica Neue"/>
                <a:ea typeface="Helvetica Neue"/>
                <a:cs typeface="Helvetica Neue"/>
              </a:defRPr>
            </a:pPr>
            <a:r>
              <a:rPr sz="1275" b="1">
                <a:solidFill>
                  <a:srgbClr val="F4B740"/>
                </a:solidFill>
                <a:latin typeface="Helvetica Neue"/>
                <a:ea typeface="Helvetica Neue"/>
                <a:cs typeface="Helvetica Neue"/>
              </a:rPr>
              <a:t>CRITICAL</a:t>
            </a:r>
          </a:p>
        </p:txBody>
      </p:sp>
      <p:sp>
        <p:nvSpPr>
          <p:cNvPr id="15" name="">
            <a:extLst xmlns:a="http://schemas.openxmlformats.org/drawingml/2006/main">
              <a:ext uri="{FF2B5EF4-FFF2-40B4-BE49-F238E27FC236}">
                <a16:creationId xmlns:a16="http://schemas.microsoft.com/office/drawing/2014/main" id="{24C1BE0C-D190-40A3-B8D8-DA9813C5E694}"/>
              </a:ext>
            </a:extLst>
          </p:cNvPr>
          <p:cNvSpPr>
            <a:spLocks xmlns:a="http://schemas.openxmlformats.org/drawingml/2006/main" noGrp="1"/>
          </p:cNvSpPr>
          <p:nvPr/>
        </p:nvSpPr>
        <p:spPr>
          <a:xfrm xmlns:a="http://schemas.openxmlformats.org/drawingml/2006/main">
            <a:off x="2247900" y="48768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MD5 fingerprint and cognitive complexity of 34 against a limit of 15</a:t>
            </a:r>
          </a:p>
        </p:txBody>
      </p:sp>
      <p:sp>
        <p:nvSpPr>
          <p:cNvPr id="16" name="">
            <a:extLst xmlns:a="http://schemas.openxmlformats.org/drawingml/2006/main">
              <a:ext uri="{FF2B5EF4-FFF2-40B4-BE49-F238E27FC236}">
                <a16:creationId xmlns:a16="http://schemas.microsoft.com/office/drawing/2014/main" id="{52B8E4B5-9245-4E30-8FD0-CEA4BC1FC82D}"/>
              </a:ext>
            </a:extLst>
          </p:cNvPr>
          <p:cNvSpPr>
            <a:spLocks xmlns:a="http://schemas.openxmlformats.org/drawingml/2006/main" noGrp="1"/>
          </p:cNvSpPr>
          <p:nvPr/>
        </p:nvSpPr>
        <p:spPr>
          <a:xfrm xmlns:a="http://schemas.openxmlformats.org/drawingml/2006/main">
            <a:off x="666750" y="5638800"/>
            <a:ext cx="10382250" cy="419100"/>
          </a:xfrm>
          <a:prstGeom xmlns:a="http://schemas.openxmlformats.org/drawingml/2006/main" prst="roundRect">
            <a:avLst>
              <a:gd name="adj" fmla="val 22727"/>
            </a:avLst>
          </a:prstGeom>
          <a:solidFill xmlns:a="http://schemas.openxmlformats.org/drawingml/2006/main">
            <a:srgbClr val="341D25"/>
          </a:solidFill>
          <a:ln xmlns:a="http://schemas.openxmlformats.org/drawingml/2006/main" w="9525">
            <a:solidFill>
              <a:srgbClr val="6A3441"/>
            </a:solidFill>
            <a:prstDash val="solid"/>
          </a:ln>
        </p:spPr>
      </p:sp>
      <p:sp>
        <p:nvSpPr>
          <p:cNvPr id="17" name="">
            <a:extLst xmlns:a="http://schemas.openxmlformats.org/drawingml/2006/main">
              <a:ext uri="{FF2B5EF4-FFF2-40B4-BE49-F238E27FC236}">
                <a16:creationId xmlns:a16="http://schemas.microsoft.com/office/drawing/2014/main" id="{9EEE47DD-7E8F-4BB6-A82D-2D2BA44BEEA7}"/>
              </a:ext>
            </a:extLst>
          </p:cNvPr>
          <p:cNvSpPr>
            <a:spLocks xmlns:a="http://schemas.openxmlformats.org/drawingml/2006/main" noGrp="1"/>
          </p:cNvSpPr>
          <p:nvPr/>
        </p:nvSpPr>
        <p:spPr>
          <a:xfrm xmlns:a="http://schemas.openxmlformats.org/drawingml/2006/main">
            <a:off x="838200" y="57150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650" b="1">
                <a:solidFill>
                  <a:srgbClr val="FFABB2"/>
                </a:solidFill>
                <a:latin typeface="Helvetica Neue"/>
                <a:ea typeface="Helvetica Neue"/>
                <a:cs typeface="Helvetica Neue"/>
              </a:defRPr>
            </a:pPr>
            <a:r>
              <a:rPr sz="1650" b="1">
                <a:solidFill>
                  <a:srgbClr val="FFABB2"/>
                </a:solidFill>
                <a:latin typeface="Helvetica Neue"/>
                <a:ea typeface="Helvetica Neue"/>
                <a:cs typeface="Helvetica Neue"/>
              </a:rPr>
              <a:t>QUALITY GATE STATUS: FAILED</a:t>
            </a:r>
          </a:p>
        </p:txBody>
      </p:sp>
      <p:sp>
        <p:nvSpPr>
          <p:cNvPr id="18" name="">
            <a:extLst xmlns:a="http://schemas.openxmlformats.org/drawingml/2006/main">
              <a:ext uri="{FF2B5EF4-FFF2-40B4-BE49-F238E27FC236}">
                <a16:creationId xmlns:a16="http://schemas.microsoft.com/office/drawing/2014/main" id="{12FC3051-037B-4933-8152-A6978BD0BA34}"/>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HSU MYAT · 1:15</a:t>
            </a:r>
          </a:p>
        </p:txBody>
      </p:sp>
      <p:sp>
        <p:nvSpPr>
          <p:cNvPr id="19" name="">
            <a:extLst xmlns:a="http://schemas.openxmlformats.org/drawingml/2006/main">
              <a:ext uri="{FF2B5EF4-FFF2-40B4-BE49-F238E27FC236}">
                <a16:creationId xmlns:a16="http://schemas.microsoft.com/office/drawing/2014/main" id="{66CB37B0-233E-46A7-B1C1-D309F7960E47}"/>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08</a:t>
            </a:r>
          </a:p>
        </p:txBody>
      </p:sp>
    </p:spTree>
    <p:extLst>
      <p:ext uri="{BB962C8B-B14F-4D97-AF65-F5344CB8AC3E}">
        <p14:creationId xmlns:p14="http://schemas.microsoft.com/office/powerpoint/2010/main" val="47349249"/>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03521FD-F42B-47A4-A1D9-2083D5A46197}"/>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132238"/>
                </a:solidFill>
                <a:latin typeface="Helvetica Neue"/>
                <a:ea typeface="Helvetica Neue"/>
                <a:cs typeface="Helvetica Neue"/>
              </a:defRPr>
            </a:pPr>
            <a:r>
              <a:rPr sz="2775" b="1">
                <a:solidFill>
                  <a:srgbClr val="132238"/>
                </a:solidFill>
                <a:latin typeface="Helvetica Neue"/>
                <a:ea typeface="Helvetica Neue"/>
                <a:cs typeface="Helvetica Neue"/>
              </a:rPr>
              <a:t>Limits and conclusion</a:t>
            </a:r>
          </a:p>
        </p:txBody>
      </p:sp>
      <p:sp>
        <p:nvSpPr>
          <p:cNvPr id="2" name="">
            <a:extLst xmlns:a="http://schemas.openxmlformats.org/drawingml/2006/main">
              <a:ext uri="{FF2B5EF4-FFF2-40B4-BE49-F238E27FC236}">
                <a16:creationId xmlns:a16="http://schemas.microsoft.com/office/drawing/2014/main" id="{99A9548C-9FBC-4703-9924-E5310C13902D}"/>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B4424F1A-53DB-40AB-87CE-CB3D05CEB680}"/>
              </a:ext>
            </a:extLst>
          </p:cNvPr>
          <p:cNvSpPr>
            <a:spLocks xmlns:a="http://schemas.openxmlformats.org/drawingml/2006/main" noGrp="1"/>
          </p:cNvSpPr>
          <p:nvPr/>
        </p:nvSpPr>
        <p:spPr>
          <a:xfrm xmlns:a="http://schemas.openxmlformats.org/drawingml/2006/main">
            <a:off x="609600" y="1466850"/>
            <a:ext cx="714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32238"/>
                </a:solidFill>
                <a:latin typeface="Helvetica Neue"/>
                <a:ea typeface="Helvetica Neue"/>
                <a:cs typeface="Helvetica Neue"/>
              </a:defRPr>
            </a:pPr>
            <a:r>
              <a:rPr sz="2100" b="1">
                <a:solidFill>
                  <a:srgbClr val="132238"/>
                </a:solidFill>
                <a:latin typeface="Helvetica Neue"/>
                <a:ea typeface="Helvetica Neue"/>
                <a:cs typeface="Helvetica Neue"/>
              </a:rPr>
              <a:t>The gate missed two important problems</a:t>
            </a:r>
          </a:p>
        </p:txBody>
      </p:sp>
      <p:sp>
        <p:nvSpPr>
          <p:cNvPr id="4" name="">
            <a:extLst xmlns:a="http://schemas.openxmlformats.org/drawingml/2006/main">
              <a:ext uri="{FF2B5EF4-FFF2-40B4-BE49-F238E27FC236}">
                <a16:creationId xmlns:a16="http://schemas.microsoft.com/office/drawing/2014/main" id="{24AA976E-282F-4966-81EF-5B90333EEA5F}"/>
              </a:ext>
            </a:extLst>
          </p:cNvPr>
          <p:cNvSpPr>
            <a:spLocks xmlns:a="http://schemas.openxmlformats.org/drawingml/2006/main" noGrp="1"/>
          </p:cNvSpPr>
          <p:nvPr/>
        </p:nvSpPr>
        <p:spPr>
          <a:xfrm xmlns:a="http://schemas.openxmlformats.org/drawingml/2006/main">
            <a:off x="609600" y="2133600"/>
            <a:ext cx="4953000" cy="1314450"/>
          </a:xfrm>
          <a:prstGeom xmlns:a="http://schemas.openxmlformats.org/drawingml/2006/main" prst="roundRect">
            <a:avLst>
              <a:gd name="adj" fmla="val 10145"/>
            </a:avLst>
          </a:prstGeom>
          <a:solidFill xmlns:a="http://schemas.openxmlformats.org/drawingml/2006/main">
            <a:srgbClr val="FFF5DF"/>
          </a:solidFill>
          <a:ln xmlns:a="http://schemas.openxmlformats.org/drawingml/2006/main" w="19050">
            <a:solidFill>
              <a:srgbClr val="F3D28B"/>
            </a:solidFill>
            <a:prstDash val="solid"/>
          </a:ln>
        </p:spPr>
      </p:sp>
      <p:sp>
        <p:nvSpPr>
          <p:cNvPr id="5" name="">
            <a:extLst xmlns:a="http://schemas.openxmlformats.org/drawingml/2006/main">
              <a:ext uri="{FF2B5EF4-FFF2-40B4-BE49-F238E27FC236}">
                <a16:creationId xmlns:a16="http://schemas.microsoft.com/office/drawing/2014/main" id="{27C8DF23-8590-4944-B2DB-951C892F96C2}"/>
              </a:ext>
            </a:extLst>
          </p:cNvPr>
          <p:cNvSpPr>
            <a:spLocks xmlns:a="http://schemas.openxmlformats.org/drawingml/2006/main" noGrp="1"/>
          </p:cNvSpPr>
          <p:nvPr/>
        </p:nvSpPr>
        <p:spPr>
          <a:xfrm xmlns:a="http://schemas.openxmlformats.org/drawingml/2006/main">
            <a:off x="838200" y="23431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815D12"/>
                </a:solidFill>
                <a:latin typeface="Helvetica Neue"/>
                <a:ea typeface="Helvetica Neue"/>
                <a:cs typeface="Helvetica Neue"/>
              </a:defRPr>
            </a:pPr>
            <a:r>
              <a:rPr sz="1650" b="1">
                <a:solidFill>
                  <a:srgbClr val="815D12"/>
                </a:solidFill>
                <a:latin typeface="Helvetica Neue"/>
                <a:ea typeface="Helvetica Neue"/>
                <a:cs typeface="Helvetica Neue"/>
              </a:rPr>
              <a:t>SQL injection</a:t>
            </a:r>
          </a:p>
        </p:txBody>
      </p:sp>
      <p:sp>
        <p:nvSpPr>
          <p:cNvPr id="6" name="">
            <a:extLst xmlns:a="http://schemas.openxmlformats.org/drawingml/2006/main">
              <a:ext uri="{FF2B5EF4-FFF2-40B4-BE49-F238E27FC236}">
                <a16:creationId xmlns:a16="http://schemas.microsoft.com/office/drawing/2014/main" id="{8919E8CB-346C-4E00-8183-4A14CE606FAA}"/>
              </a:ext>
            </a:extLst>
          </p:cNvPr>
          <p:cNvSpPr>
            <a:spLocks xmlns:a="http://schemas.openxmlformats.org/drawingml/2006/main" noGrp="1"/>
          </p:cNvSpPr>
          <p:nvPr/>
        </p:nvSpPr>
        <p:spPr>
          <a:xfrm xmlns:a="http://schemas.openxmlformats.org/drawingml/2006/main">
            <a:off x="838200" y="27432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32238"/>
                </a:solidFill>
                <a:latin typeface="Helvetica Neue"/>
                <a:ea typeface="Helvetica Neue"/>
                <a:cs typeface="Helvetica Neue"/>
              </a:defRPr>
            </a:pPr>
            <a:r>
              <a:rPr sz="1425" b="0">
                <a:solidFill>
                  <a:srgbClr val="132238"/>
                </a:solidFill>
                <a:latin typeface="Helvetica Neue"/>
                <a:ea typeface="Helvetica Neue"/>
                <a:cs typeface="Helvetica Neue"/>
              </a:rPr>
              <a:t>Community Build did not flag the concatenated JavaScript query. The taint-analysis rule requires a paid edition.</a:t>
            </a:r>
          </a:p>
        </p:txBody>
      </p:sp>
      <p:sp>
        <p:nvSpPr>
          <p:cNvPr id="7" name="">
            <a:extLst xmlns:a="http://schemas.openxmlformats.org/drawingml/2006/main">
              <a:ext uri="{FF2B5EF4-FFF2-40B4-BE49-F238E27FC236}">
                <a16:creationId xmlns:a16="http://schemas.microsoft.com/office/drawing/2014/main" id="{4BF5F5DD-A0FC-46B6-80ED-D229315300EA}"/>
              </a:ext>
            </a:extLst>
          </p:cNvPr>
          <p:cNvSpPr>
            <a:spLocks xmlns:a="http://schemas.openxmlformats.org/drawingml/2006/main" noGrp="1"/>
          </p:cNvSpPr>
          <p:nvPr/>
        </p:nvSpPr>
        <p:spPr>
          <a:xfrm xmlns:a="http://schemas.openxmlformats.org/drawingml/2006/main">
            <a:off x="5905500" y="2133600"/>
            <a:ext cx="4953000" cy="1314450"/>
          </a:xfrm>
          <a:prstGeom xmlns:a="http://schemas.openxmlformats.org/drawingml/2006/main" prst="roundRect">
            <a:avLst>
              <a:gd name="adj" fmla="val 10145"/>
            </a:avLst>
          </a:prstGeom>
          <a:solidFill xmlns:a="http://schemas.openxmlformats.org/drawingml/2006/main">
            <a:srgbClr val="EDF5FC"/>
          </a:solidFill>
          <a:ln xmlns:a="http://schemas.openxmlformats.org/drawingml/2006/main" w="19050">
            <a:solidFill>
              <a:srgbClr val="B6D4EC"/>
            </a:solidFill>
            <a:prstDash val="solid"/>
          </a:ln>
        </p:spPr>
      </p:sp>
      <p:sp>
        <p:nvSpPr>
          <p:cNvPr id="8" name="">
            <a:extLst xmlns:a="http://schemas.openxmlformats.org/drawingml/2006/main">
              <a:ext uri="{FF2B5EF4-FFF2-40B4-BE49-F238E27FC236}">
                <a16:creationId xmlns:a16="http://schemas.microsoft.com/office/drawing/2014/main" id="{A8012A00-2401-49B1-B6E5-0D7E8A7A4C1B}"/>
              </a:ext>
            </a:extLst>
          </p:cNvPr>
          <p:cNvSpPr>
            <a:spLocks xmlns:a="http://schemas.openxmlformats.org/drawingml/2006/main" noGrp="1"/>
          </p:cNvSpPr>
          <p:nvPr/>
        </p:nvSpPr>
        <p:spPr>
          <a:xfrm xmlns:a="http://schemas.openxmlformats.org/drawingml/2006/main">
            <a:off x="6134100" y="23431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25E8C"/>
                </a:solidFill>
                <a:latin typeface="Helvetica Neue"/>
                <a:ea typeface="Helvetica Neue"/>
                <a:cs typeface="Helvetica Neue"/>
              </a:defRPr>
            </a:pPr>
            <a:r>
              <a:rPr sz="1650" b="1">
                <a:solidFill>
                  <a:srgbClr val="225E8C"/>
                </a:solidFill>
                <a:latin typeface="Helvetica Neue"/>
                <a:ea typeface="Helvetica Neue"/>
                <a:cs typeface="Helvetica Neue"/>
              </a:rPr>
              <a:t>Missing cache invalidation</a:t>
            </a:r>
          </a:p>
        </p:txBody>
      </p:sp>
      <p:sp>
        <p:nvSpPr>
          <p:cNvPr id="9" name="">
            <a:extLst xmlns:a="http://schemas.openxmlformats.org/drawingml/2006/main">
              <a:ext uri="{FF2B5EF4-FFF2-40B4-BE49-F238E27FC236}">
                <a16:creationId xmlns:a16="http://schemas.microsoft.com/office/drawing/2014/main" id="{C377C689-6A32-4E7C-BA02-82214A20DADF}"/>
              </a:ext>
            </a:extLst>
          </p:cNvPr>
          <p:cNvSpPr>
            <a:spLocks xmlns:a="http://schemas.openxmlformats.org/drawingml/2006/main" noGrp="1"/>
          </p:cNvSpPr>
          <p:nvPr/>
        </p:nvSpPr>
        <p:spPr>
          <a:xfrm xmlns:a="http://schemas.openxmlformats.org/drawingml/2006/main">
            <a:off x="6134100" y="27432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32238"/>
                </a:solidFill>
                <a:latin typeface="Helvetica Neue"/>
                <a:ea typeface="Helvetica Neue"/>
                <a:cs typeface="Helvetica Neue"/>
              </a:defRPr>
            </a:pPr>
            <a:r>
              <a:rPr sz="1425" b="0">
                <a:solidFill>
                  <a:srgbClr val="132238"/>
                </a:solidFill>
                <a:latin typeface="Helvetica Neue"/>
                <a:ea typeface="Helvetica Neue"/>
                <a:cs typeface="Helvetica Neue"/>
              </a:rPr>
              <a:t>The import route forgets redis.del, so users can receive stale data. Static rules cannot infer that business logic.</a:t>
            </a:r>
          </a:p>
        </p:txBody>
      </p:sp>
      <p:sp>
        <p:nvSpPr>
          <p:cNvPr id="10" name="">
            <a:extLst xmlns:a="http://schemas.openxmlformats.org/drawingml/2006/main">
              <a:ext uri="{FF2B5EF4-FFF2-40B4-BE49-F238E27FC236}">
                <a16:creationId xmlns:a16="http://schemas.microsoft.com/office/drawing/2014/main" id="{A0001C44-792D-478B-BABD-3399C3B887C4}"/>
              </a:ext>
            </a:extLst>
          </p:cNvPr>
          <p:cNvSpPr>
            <a:spLocks xmlns:a="http://schemas.openxmlformats.org/drawingml/2006/main" noGrp="1"/>
          </p:cNvSpPr>
          <p:nvPr/>
        </p:nvSpPr>
        <p:spPr>
          <a:xfrm xmlns:a="http://schemas.openxmlformats.org/drawingml/2006/main">
            <a:off x="609600" y="4000500"/>
            <a:ext cx="10248900" cy="2857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11" name="">
            <a:extLst xmlns:a="http://schemas.openxmlformats.org/drawingml/2006/main">
              <a:ext uri="{FF2B5EF4-FFF2-40B4-BE49-F238E27FC236}">
                <a16:creationId xmlns:a16="http://schemas.microsoft.com/office/drawing/2014/main" id="{F32E3475-7125-4D4A-8368-1F6506BC1371}"/>
              </a:ext>
            </a:extLst>
          </p:cNvPr>
          <p:cNvSpPr>
            <a:spLocks xmlns:a="http://schemas.openxmlformats.org/drawingml/2006/main" noGrp="1"/>
          </p:cNvSpPr>
          <p:nvPr/>
        </p:nvSpPr>
        <p:spPr>
          <a:xfrm xmlns:a="http://schemas.openxmlformats.org/drawingml/2006/main">
            <a:off x="609600" y="43624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1">
                <a:solidFill>
                  <a:srgbClr val="0C7C70"/>
                </a:solidFill>
                <a:latin typeface="Helvetica Neue"/>
                <a:ea typeface="Helvetica Neue"/>
                <a:cs typeface="Helvetica Neue"/>
              </a:defRPr>
            </a:pPr>
            <a:r>
              <a:rPr sz="1425" b="1">
                <a:solidFill>
                  <a:srgbClr val="0C7C70"/>
                </a:solidFill>
                <a:latin typeface="Helvetica Neue"/>
                <a:ea typeface="Helvetica Neue"/>
                <a:cs typeface="Helvetica Neue"/>
              </a:rPr>
              <a:t>Our conclusion</a:t>
            </a:r>
          </a:p>
        </p:txBody>
      </p:sp>
      <p:sp>
        <p:nvSpPr>
          <p:cNvPr id="12" name="">
            <a:extLst xmlns:a="http://schemas.openxmlformats.org/drawingml/2006/main">
              <a:ext uri="{FF2B5EF4-FFF2-40B4-BE49-F238E27FC236}">
                <a16:creationId xmlns:a16="http://schemas.microsoft.com/office/drawing/2014/main" id="{32CA2100-EBC6-421F-A14B-B44BAD076174}"/>
              </a:ext>
            </a:extLst>
          </p:cNvPr>
          <p:cNvSpPr>
            <a:spLocks xmlns:a="http://schemas.openxmlformats.org/drawingml/2006/main" noGrp="1"/>
          </p:cNvSpPr>
          <p:nvPr/>
        </p:nvSpPr>
        <p:spPr>
          <a:xfrm xmlns:a="http://schemas.openxmlformats.org/drawingml/2006/main">
            <a:off x="609600" y="4838700"/>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32238"/>
                </a:solidFill>
                <a:latin typeface="Helvetica Neue"/>
                <a:ea typeface="Helvetica Neue"/>
                <a:cs typeface="Helvetica Neue"/>
              </a:defRPr>
            </a:pPr>
            <a:r>
              <a:rPr sz="2325" b="1">
                <a:solidFill>
                  <a:srgbClr val="132238"/>
                </a:solidFill>
                <a:latin typeface="Helvetica Neue"/>
                <a:ea typeface="Helvetica Neue"/>
                <a:cs typeface="Helvetica Neue"/>
              </a:rPr>
              <a:t>Automated checks handle repeatable rules. Human reviewers check system behavior and business logic.</a:t>
            </a:r>
          </a:p>
        </p:txBody>
      </p:sp>
      <p:sp>
        <p:nvSpPr>
          <p:cNvPr id="13" name="">
            <a:extLst xmlns:a="http://schemas.openxmlformats.org/drawingml/2006/main">
              <a:ext uri="{FF2B5EF4-FFF2-40B4-BE49-F238E27FC236}">
                <a16:creationId xmlns:a16="http://schemas.microsoft.com/office/drawing/2014/main" id="{2CC02C2F-1596-42B5-A5C9-DF0C549E0262}"/>
              </a:ext>
            </a:extLst>
          </p:cNvPr>
          <p:cNvSpPr>
            <a:spLocks xmlns:a="http://schemas.openxmlformats.org/drawingml/2006/main" noGrp="1"/>
          </p:cNvSpPr>
          <p:nvPr/>
        </p:nvSpPr>
        <p:spPr>
          <a:xfrm xmlns:a="http://schemas.openxmlformats.org/drawingml/2006/main">
            <a:off x="609600" y="58864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4D9DE0"/>
                </a:solidFill>
                <a:latin typeface="Helvetica Neue"/>
                <a:ea typeface="Helvetica Neue"/>
                <a:cs typeface="Helvetica Neue"/>
              </a:defRPr>
            </a:pPr>
            <a:r>
              <a:rPr sz="1350" b="1">
                <a:solidFill>
                  <a:srgbClr val="4D9DE0"/>
                </a:solidFill>
                <a:latin typeface="Helvetica Neue"/>
                <a:ea typeface="Helvetica Neue"/>
                <a:cs typeface="Helvetica Neue"/>
              </a:rPr>
              <a:t>github.com/kayos4326/crud-api-quality-gate</a:t>
            </a:r>
          </a:p>
        </p:txBody>
      </p:sp>
      <p:sp>
        <p:nvSpPr>
          <p:cNvPr id="14" name="">
            <a:extLst xmlns:a="http://schemas.openxmlformats.org/drawingml/2006/main">
              <a:ext uri="{FF2B5EF4-FFF2-40B4-BE49-F238E27FC236}">
                <a16:creationId xmlns:a16="http://schemas.microsoft.com/office/drawing/2014/main" id="{8159613A-6122-49AD-B9F9-C05024AB490D}"/>
              </a:ext>
            </a:extLst>
          </p:cNvPr>
          <p:cNvSpPr>
            <a:spLocks xmlns:a="http://schemas.openxmlformats.org/drawingml/2006/main" noGrp="1"/>
          </p:cNvSpPr>
          <p:nvPr/>
        </p:nvSpPr>
        <p:spPr>
          <a:xfrm xmlns:a="http://schemas.openxmlformats.org/drawingml/2006/main">
            <a:off x="9715500" y="5810250"/>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500" b="1">
                <a:solidFill>
                  <a:srgbClr val="0C7C70"/>
                </a:solidFill>
                <a:latin typeface="Helvetica Neue"/>
                <a:ea typeface="Helvetica Neue"/>
                <a:cs typeface="Helvetica Neue"/>
              </a:defRPr>
            </a:pPr>
            <a:r>
              <a:rPr sz="1500" b="1">
                <a:solidFill>
                  <a:srgbClr val="0C7C70"/>
                </a:solidFill>
                <a:latin typeface="Helvetica Neue"/>
                <a:ea typeface="Helvetica Neue"/>
                <a:cs typeface="Helvetica Neue"/>
              </a:rPr>
              <a:t>Thank you</a:t>
            </a:r>
          </a:p>
        </p:txBody>
      </p:sp>
      <p:sp>
        <p:nvSpPr>
          <p:cNvPr id="15" name="">
            <a:extLst xmlns:a="http://schemas.openxmlformats.org/drawingml/2006/main">
              <a:ext uri="{FF2B5EF4-FFF2-40B4-BE49-F238E27FC236}">
                <a16:creationId xmlns:a16="http://schemas.microsoft.com/office/drawing/2014/main" id="{338C8936-E7A0-49F0-BFC6-9737E32F68CB}"/>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HSU MYAT · 1:20</a:t>
            </a:r>
          </a:p>
        </p:txBody>
      </p:sp>
      <p:sp>
        <p:nvSpPr>
          <p:cNvPr id="16" name="">
            <a:extLst xmlns:a="http://schemas.openxmlformats.org/drawingml/2006/main">
              <a:ext uri="{FF2B5EF4-FFF2-40B4-BE49-F238E27FC236}">
                <a16:creationId xmlns:a16="http://schemas.microsoft.com/office/drawing/2014/main" id="{D96C8AA8-A9D1-423C-BC4C-D60184C376B3}"/>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09</a:t>
            </a:r>
          </a:p>
        </p:txBody>
      </p:sp>
    </p:spTree>
    <p:extLst>
      <p:ext uri="{BB962C8B-B14F-4D97-AF65-F5344CB8AC3E}">
        <p14:creationId xmlns:p14="http://schemas.microsoft.com/office/powerpoint/2010/main" val="3446125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2026-09-20T09:25:52.0770000Z</dcterms:created>
  <dcterms:modified xsi:type="dcterms:W3CDTF">2026-09-20T09:25:52.0770000Z</dcterms:modified>
</coreProperties>
</file>